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21383625" cy="30545088"/>
  <p:notesSz cx="6858000" cy="9144000"/>
  <p:defaultTextStyle>
    <a:defPPr>
      <a:defRPr lang="en-US"/>
    </a:defPPr>
    <a:lvl1pPr marL="0" algn="l" defTabSz="2119488" rtl="0" eaLnBrk="1" latinLnBrk="0" hangingPunct="1">
      <a:defRPr sz="4172" kern="1200">
        <a:solidFill>
          <a:schemeClr val="tx1"/>
        </a:solidFill>
        <a:latin typeface="+mn-lt"/>
        <a:ea typeface="+mn-ea"/>
        <a:cs typeface="+mn-cs"/>
      </a:defRPr>
    </a:lvl1pPr>
    <a:lvl2pPr marL="1059744" algn="l" defTabSz="2119488" rtl="0" eaLnBrk="1" latinLnBrk="0" hangingPunct="1">
      <a:defRPr sz="4172" kern="1200">
        <a:solidFill>
          <a:schemeClr val="tx1"/>
        </a:solidFill>
        <a:latin typeface="+mn-lt"/>
        <a:ea typeface="+mn-ea"/>
        <a:cs typeface="+mn-cs"/>
      </a:defRPr>
    </a:lvl2pPr>
    <a:lvl3pPr marL="2119488" algn="l" defTabSz="2119488" rtl="0" eaLnBrk="1" latinLnBrk="0" hangingPunct="1">
      <a:defRPr sz="4172" kern="1200">
        <a:solidFill>
          <a:schemeClr val="tx1"/>
        </a:solidFill>
        <a:latin typeface="+mn-lt"/>
        <a:ea typeface="+mn-ea"/>
        <a:cs typeface="+mn-cs"/>
      </a:defRPr>
    </a:lvl3pPr>
    <a:lvl4pPr marL="3179232" algn="l" defTabSz="2119488" rtl="0" eaLnBrk="1" latinLnBrk="0" hangingPunct="1">
      <a:defRPr sz="4172" kern="1200">
        <a:solidFill>
          <a:schemeClr val="tx1"/>
        </a:solidFill>
        <a:latin typeface="+mn-lt"/>
        <a:ea typeface="+mn-ea"/>
        <a:cs typeface="+mn-cs"/>
      </a:defRPr>
    </a:lvl4pPr>
    <a:lvl5pPr marL="4238976" algn="l" defTabSz="2119488" rtl="0" eaLnBrk="1" latinLnBrk="0" hangingPunct="1">
      <a:defRPr sz="4172" kern="1200">
        <a:solidFill>
          <a:schemeClr val="tx1"/>
        </a:solidFill>
        <a:latin typeface="+mn-lt"/>
        <a:ea typeface="+mn-ea"/>
        <a:cs typeface="+mn-cs"/>
      </a:defRPr>
    </a:lvl5pPr>
    <a:lvl6pPr marL="5298719" algn="l" defTabSz="2119488" rtl="0" eaLnBrk="1" latinLnBrk="0" hangingPunct="1">
      <a:defRPr sz="4172" kern="1200">
        <a:solidFill>
          <a:schemeClr val="tx1"/>
        </a:solidFill>
        <a:latin typeface="+mn-lt"/>
        <a:ea typeface="+mn-ea"/>
        <a:cs typeface="+mn-cs"/>
      </a:defRPr>
    </a:lvl6pPr>
    <a:lvl7pPr marL="6358463" algn="l" defTabSz="2119488" rtl="0" eaLnBrk="1" latinLnBrk="0" hangingPunct="1">
      <a:defRPr sz="4172" kern="1200">
        <a:solidFill>
          <a:schemeClr val="tx1"/>
        </a:solidFill>
        <a:latin typeface="+mn-lt"/>
        <a:ea typeface="+mn-ea"/>
        <a:cs typeface="+mn-cs"/>
      </a:defRPr>
    </a:lvl7pPr>
    <a:lvl8pPr marL="7418207" algn="l" defTabSz="2119488" rtl="0" eaLnBrk="1" latinLnBrk="0" hangingPunct="1">
      <a:defRPr sz="4172" kern="1200">
        <a:solidFill>
          <a:schemeClr val="tx1"/>
        </a:solidFill>
        <a:latin typeface="+mn-lt"/>
        <a:ea typeface="+mn-ea"/>
        <a:cs typeface="+mn-cs"/>
      </a:defRPr>
    </a:lvl8pPr>
    <a:lvl9pPr marL="8477951" algn="l" defTabSz="2119488" rtl="0" eaLnBrk="1" latinLnBrk="0" hangingPunct="1">
      <a:defRPr sz="417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442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98932"/>
            <a:ext cx="18176081" cy="10634216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6043244"/>
            <a:ext cx="16037719" cy="7374657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3E2C6-8CDE-4FA4-9434-0173729C9153}" type="datetimeFigureOut">
              <a:rPr lang="en-IN" smtClean="0"/>
              <a:t>27-04-2026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A1BF-A921-4444-88C6-9EFD5BFD177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2842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3E2C6-8CDE-4FA4-9434-0173729C9153}" type="datetimeFigureOut">
              <a:rPr lang="en-IN" smtClean="0"/>
              <a:t>27-04-2026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A1BF-A921-4444-88C6-9EFD5BFD177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0812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615069"/>
            <a:ext cx="18443377" cy="12705906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441178"/>
            <a:ext cx="18443377" cy="6681736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/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75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3E2C6-8CDE-4FA4-9434-0173729C9153}" type="datetimeFigureOut">
              <a:rPr lang="en-IN" smtClean="0"/>
              <a:t>27-04-2026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A1BF-A921-4444-88C6-9EFD5BFD177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5159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131215"/>
            <a:ext cx="9088041" cy="19380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131215"/>
            <a:ext cx="9088041" cy="19380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3E2C6-8CDE-4FA4-9434-0173729C9153}" type="datetimeFigureOut">
              <a:rPr lang="en-IN" smtClean="0"/>
              <a:t>27-04-2026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A1BF-A921-4444-88C6-9EFD5BFD177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8164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26250"/>
            <a:ext cx="18443377" cy="59039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87791"/>
            <a:ext cx="9046274" cy="3669651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157442"/>
            <a:ext cx="9046274" cy="164109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87791"/>
            <a:ext cx="9090826" cy="3669651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157442"/>
            <a:ext cx="9090826" cy="164109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3E2C6-8CDE-4FA4-9434-0173729C9153}" type="datetimeFigureOut">
              <a:rPr lang="en-IN" smtClean="0"/>
              <a:t>27-04-2026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A1BF-A921-4444-88C6-9EFD5BFD177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7054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3E2C6-8CDE-4FA4-9434-0173729C9153}" type="datetimeFigureOut">
              <a:rPr lang="en-IN" smtClean="0"/>
              <a:t>27-04-2026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A1BF-A921-4444-88C6-9EFD5BFD177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6069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3E2C6-8CDE-4FA4-9434-0173729C9153}" type="datetimeFigureOut">
              <a:rPr lang="en-IN" smtClean="0"/>
              <a:t>27-04-2026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A1BF-A921-4444-88C6-9EFD5BFD177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8165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36339"/>
            <a:ext cx="6896776" cy="7127187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97934"/>
            <a:ext cx="10825460" cy="21706810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163526"/>
            <a:ext cx="6896776" cy="16976566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3E2C6-8CDE-4FA4-9434-0173729C9153}" type="datetimeFigureOut">
              <a:rPr lang="en-IN" smtClean="0"/>
              <a:t>27-04-2026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A1BF-A921-4444-88C6-9EFD5BFD177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9372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36339"/>
            <a:ext cx="6896776" cy="7127187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97934"/>
            <a:ext cx="10825460" cy="21706810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163526"/>
            <a:ext cx="6896776" cy="16976566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3E2C6-8CDE-4FA4-9434-0173729C9153}" type="datetimeFigureOut">
              <a:rPr lang="en-IN" smtClean="0"/>
              <a:t>27-04-2026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A1BF-A921-4444-88C6-9EFD5BFD177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8484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3E2C6-8CDE-4FA4-9434-0173729C9153}" type="datetimeFigureOut">
              <a:rPr lang="en-IN" smtClean="0"/>
              <a:t>27-04-2026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A1BF-A921-4444-88C6-9EFD5BFD177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0344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26243"/>
            <a:ext cx="4610844" cy="258855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26243"/>
            <a:ext cx="13565237" cy="25885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3E2C6-8CDE-4FA4-9434-0173729C9153}" type="datetimeFigureOut">
              <a:rPr lang="en-IN" smtClean="0"/>
              <a:t>27-04-2026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A1BF-A921-4444-88C6-9EFD5BFD177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0073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26250"/>
            <a:ext cx="18443377" cy="5903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131215"/>
            <a:ext cx="18443377" cy="193805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310778"/>
            <a:ext cx="4811316" cy="16262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53E2C6-8CDE-4FA4-9434-0173729C9153}" type="datetimeFigureOut">
              <a:rPr lang="en-IN" smtClean="0"/>
              <a:t>27-04-2026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310778"/>
            <a:ext cx="7216973" cy="16262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310778"/>
            <a:ext cx="4811316" cy="16262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8FA1BF-A921-4444-88C6-9EFD5BFD177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3614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59812" y="365760"/>
            <a:ext cx="20664000" cy="295560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itle 3"/>
          <p:cNvSpPr txBox="1">
            <a:spLocks/>
          </p:cNvSpPr>
          <p:nvPr/>
        </p:nvSpPr>
        <p:spPr>
          <a:xfrm>
            <a:off x="2643269" y="674767"/>
            <a:ext cx="18838807" cy="11338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28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Quantum Noise-Assisted AI Authentication System for Authentication</a:t>
            </a:r>
            <a:endParaRPr lang="en-IN" sz="4800" dirty="0"/>
          </a:p>
        </p:txBody>
      </p:sp>
      <p:sp>
        <p:nvSpPr>
          <p:cNvPr id="7" name="Text Placeholder 22"/>
          <p:cNvSpPr txBox="1">
            <a:spLocks/>
          </p:cNvSpPr>
          <p:nvPr/>
        </p:nvSpPr>
        <p:spPr>
          <a:xfrm>
            <a:off x="2648547" y="1682893"/>
            <a:ext cx="18390340" cy="692658"/>
          </a:xfrm>
          <a:prstGeom prst="rect">
            <a:avLst/>
          </a:prstGeom>
          <a:noFill/>
        </p:spPr>
        <p:txBody>
          <a:bodyPr/>
          <a:lstStyle>
            <a:lvl1pPr marL="534581" indent="-534581" algn="l" defTabSz="2138324" rtl="0" eaLnBrk="1" latinLnBrk="0" hangingPunct="1">
              <a:lnSpc>
                <a:spcPct val="90000"/>
              </a:lnSpc>
              <a:spcBef>
                <a:spcPts val="2339"/>
              </a:spcBef>
              <a:buFont typeface="Arial" panose="020B0604020202020204" pitchFamily="34" charset="0"/>
              <a:buChar char="•"/>
              <a:defRPr sz="654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603743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56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672906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6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742068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811230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880392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949554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018717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087879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dirty="0"/>
              <a:t>School of Computer Science and Engineering – Winter Semester 2025 - 26</a:t>
            </a:r>
          </a:p>
        </p:txBody>
      </p:sp>
      <p:sp>
        <p:nvSpPr>
          <p:cNvPr id="10" name="Content Placeholder 10"/>
          <p:cNvSpPr txBox="1">
            <a:spLocks/>
          </p:cNvSpPr>
          <p:nvPr/>
        </p:nvSpPr>
        <p:spPr>
          <a:xfrm>
            <a:off x="359812" y="10955038"/>
            <a:ext cx="10350000" cy="18550510"/>
          </a:xfrm>
          <a:prstGeom prst="rect">
            <a:avLst/>
          </a:prstGeom>
          <a:noFill/>
          <a:ln w="15875">
            <a:solidFill>
              <a:schemeClr val="accent1">
                <a:shade val="50000"/>
              </a:schemeClr>
            </a:solidFill>
          </a:ln>
        </p:spPr>
        <p:txBody>
          <a:bodyPr>
            <a:noAutofit/>
          </a:bodyPr>
          <a:lstStyle>
            <a:defPPr>
              <a:defRPr lang="en-US"/>
            </a:defPPr>
            <a:lvl1pPr indent="0" defTabSz="2138324">
              <a:lnSpc>
                <a:spcPct val="90000"/>
              </a:lnSpc>
              <a:spcBef>
                <a:spcPts val="2339"/>
              </a:spcBef>
              <a:buFont typeface="Arial" panose="020B0604020202020204" pitchFamily="34" charset="0"/>
              <a:buNone/>
              <a:defRPr sz="3600"/>
            </a:lvl1pPr>
            <a:lvl2pPr marL="1603743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5612"/>
            </a:lvl2pPr>
            <a:lvl3pPr marL="2672906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677"/>
            </a:lvl3pPr>
            <a:lvl4pPr marL="3742068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/>
            </a:lvl4pPr>
            <a:lvl5pPr marL="4811230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/>
            </a:lvl5pPr>
            <a:lvl6pPr marL="5880392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/>
            </a:lvl6pPr>
            <a:lvl7pPr marL="6949554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/>
            </a:lvl7pPr>
            <a:lvl8pPr marL="8018717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/>
            </a:lvl8pPr>
            <a:lvl9pPr marL="9087879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/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IN" sz="2400" dirty="0"/>
              <a:t>Noise Capture: Camera dark-frame subtraction isolates PRNU; microphone captures ambient thermal noise. Short live samples — no batch offline collection.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Feature Extraction: Versioned statistical feature pipeline (mean, std, entropy, spectral moments, kurtosis). Same pipeline used at train and serve time for consistency.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Siamese Embedding: Shared </a:t>
            </a:r>
            <a:r>
              <a:rPr lang="en-IN" sz="2400" dirty="0" err="1"/>
              <a:t>EmbeddingNetwork</a:t>
            </a:r>
            <a:r>
              <a:rPr lang="en-IN" sz="2400" dirty="0"/>
              <a:t> [input → 256 → 256 → 128 → 128-d], Tanh activations, L2-normalised output. Trained with Triplet Loss.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Decision Logic: Cosine similarity + nearest-impostor margin guard (≥ 0.02 margin). Source consistency and profile checks applied first.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Challenge Hardening: MAC key = HKDF(</a:t>
            </a:r>
            <a:r>
              <a:rPr lang="en-IN" sz="2400" dirty="0" err="1"/>
              <a:t>feature_template</a:t>
            </a:r>
            <a:r>
              <a:rPr lang="en-IN" sz="2400" dirty="0"/>
              <a:t> ∥ nonce ∥ </a:t>
            </a:r>
            <a:r>
              <a:rPr lang="en-IN" sz="2400" dirty="0" err="1"/>
              <a:t>server_secret</a:t>
            </a:r>
            <a:r>
              <a:rPr lang="en-IN" sz="2400" dirty="0"/>
              <a:t>). Embedding never transmitted as credential.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Evaluation: Device-held-out split (seed=42). Baselines: raw-feature cosine + small MLP. Metrics: FAR, FRR, EER, ROC-AUC, PR-AUC. Attack surface evaluated.</a:t>
            </a:r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AU" sz="2400" dirty="0"/>
          </a:p>
          <a:p>
            <a:endParaRPr lang="en-IN" sz="2400" dirty="0"/>
          </a:p>
        </p:txBody>
      </p:sp>
      <p:sp>
        <p:nvSpPr>
          <p:cNvPr id="11" name="Text Placeholder 68"/>
          <p:cNvSpPr txBox="1">
            <a:spLocks/>
          </p:cNvSpPr>
          <p:nvPr/>
        </p:nvSpPr>
        <p:spPr>
          <a:xfrm>
            <a:off x="10709812" y="3095034"/>
            <a:ext cx="10350000" cy="13155721"/>
          </a:xfrm>
          <a:prstGeom prst="rect">
            <a:avLst/>
          </a:prstGeom>
          <a:noFill/>
          <a:ln w="15875">
            <a:solidFill>
              <a:schemeClr val="accent1">
                <a:shade val="50000"/>
              </a:schemeClr>
            </a:solidFill>
          </a:ln>
        </p:spPr>
        <p:txBody>
          <a:bodyPr>
            <a:noAutofit/>
          </a:bodyPr>
          <a:lstStyle>
            <a:defPPr>
              <a:defRPr lang="en-US"/>
            </a:defPPr>
            <a:lvl1pPr indent="0" defTabSz="2138324">
              <a:lnSpc>
                <a:spcPct val="90000"/>
              </a:lnSpc>
              <a:spcBef>
                <a:spcPts val="2339"/>
              </a:spcBef>
              <a:buFont typeface="Arial" panose="020B0604020202020204" pitchFamily="34" charset="0"/>
              <a:buNone/>
              <a:defRPr sz="2400"/>
            </a:lvl1pPr>
            <a:lvl2pPr marL="1603743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5612"/>
            </a:lvl2pPr>
            <a:lvl3pPr marL="2672906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677"/>
            </a:lvl3pPr>
            <a:lvl4pPr marL="3742068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/>
            </a:lvl4pPr>
            <a:lvl5pPr marL="4811230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/>
            </a:lvl5pPr>
            <a:lvl6pPr marL="5880392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/>
            </a:lvl6pPr>
            <a:lvl7pPr marL="6949554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/>
            </a:lvl7pPr>
            <a:lvl8pPr marL="8018717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/>
            </a:lvl8pPr>
            <a:lvl9pPr marL="9087879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/>
            </a:lvl9pPr>
          </a:lstStyle>
          <a:p>
            <a:r>
              <a:rPr lang="en-US" dirty="0"/>
              <a:t>Table 1. Full Modality Comparison (Thesis — report_metrics_tables.md)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Table 2. Baseline Comparison (Capstone Run, Microphone)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US" dirty="0"/>
              <a:t>Table 3. Prior Work Comparison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N" dirty="0"/>
              <a:t>ROC &amp; PR Curves (Capstone Run — Microphone Siamese)</a:t>
            </a:r>
          </a:p>
          <a:p>
            <a:endParaRPr lang="en-AU" i="1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415049" y="7220549"/>
            <a:ext cx="39500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dirty="0"/>
              <a:t>Scope</a:t>
            </a:r>
            <a:r>
              <a:rPr lang="en-US" sz="3600" dirty="0">
                <a:solidFill>
                  <a:srgbClr val="FF0000"/>
                </a:solidFill>
              </a:rPr>
              <a:t> </a:t>
            </a:r>
            <a:r>
              <a:rPr lang="en-US" sz="3600" dirty="0"/>
              <a:t>of the Project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55812" y="2481980"/>
            <a:ext cx="15198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dirty="0"/>
              <a:t>Results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9812" y="10298296"/>
            <a:ext cx="270689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/>
              <a:t>Methodology</a:t>
            </a:r>
          </a:p>
        </p:txBody>
      </p:sp>
      <p:sp>
        <p:nvSpPr>
          <p:cNvPr id="14" name="Content Placeholder 10"/>
          <p:cNvSpPr txBox="1">
            <a:spLocks/>
          </p:cNvSpPr>
          <p:nvPr/>
        </p:nvSpPr>
        <p:spPr>
          <a:xfrm>
            <a:off x="359812" y="7898880"/>
            <a:ext cx="10350000" cy="2399416"/>
          </a:xfrm>
          <a:prstGeom prst="rect">
            <a:avLst/>
          </a:prstGeom>
          <a:noFill/>
          <a:ln w="15875">
            <a:solidFill>
              <a:schemeClr val="accent1">
                <a:shade val="50000"/>
              </a:schemeClr>
            </a:solidFill>
          </a:ln>
        </p:spPr>
        <p:txBody>
          <a:bodyPr>
            <a:noAutofit/>
          </a:bodyPr>
          <a:lstStyle>
            <a:defPPr>
              <a:defRPr lang="en-US"/>
            </a:defPPr>
            <a:lvl1pPr indent="0" defTabSz="2138324">
              <a:lnSpc>
                <a:spcPct val="90000"/>
              </a:lnSpc>
              <a:spcBef>
                <a:spcPts val="2339"/>
              </a:spcBef>
              <a:buFont typeface="Arial" panose="020B0604020202020204" pitchFamily="34" charset="0"/>
              <a:buNone/>
              <a:defRPr sz="3600"/>
            </a:lvl1pPr>
            <a:lvl2pPr marL="1603743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5612"/>
            </a:lvl2pPr>
            <a:lvl3pPr marL="2672906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677"/>
            </a:lvl3pPr>
            <a:lvl4pPr marL="3742068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/>
            </a:lvl4pPr>
            <a:lvl5pPr marL="4811230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/>
            </a:lvl5pPr>
            <a:lvl6pPr marL="5880392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/>
            </a:lvl6pPr>
            <a:lvl7pPr marL="6949554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/>
            </a:lvl7pPr>
            <a:lvl8pPr marL="8018717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/>
            </a:lvl8pPr>
            <a:lvl9pPr marL="9087879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/>
            </a:lvl9pPr>
          </a:lstStyle>
          <a:p>
            <a:r>
              <a:rPr lang="en-US" sz="2400" dirty="0"/>
              <a:t>Uses camera PRNU dark-frame noise and microphone thermal noise to generate 128D L2-normalized embeddings via a Siamese network (triplet loss, margin 1.0), with weighted fusion (0.85 camera, 0.15 mic). Replay is hardened using HKDF(template ∥ nonce ∥ </a:t>
            </a:r>
            <a:r>
              <a:rPr lang="en-US" sz="2400" dirty="0" err="1"/>
              <a:t>server_secret</a:t>
            </a:r>
            <a:r>
              <a:rPr lang="en-US" sz="2400" dirty="0"/>
              <a:t>) with single-use nonces, and drift is managed via EMA re-enrollment gated to strong acceptance. API includes /enroll, /authenticate, /challenge, /verify, /devices; excludes production-grade crypto identity, TEEs, and formal proofs.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866" y="19103141"/>
            <a:ext cx="99685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800" i="1" dirty="0"/>
              <a:t>Fig. 1 — QNA-Auth system architecture: noise capture → feature extraction → Siamese embedding → confidence-band decision with HKDF challenge hardening.</a:t>
            </a:r>
          </a:p>
        </p:txBody>
      </p:sp>
      <p:sp>
        <p:nvSpPr>
          <p:cNvPr id="21" name="Text Placeholder 68"/>
          <p:cNvSpPr txBox="1">
            <a:spLocks/>
          </p:cNvSpPr>
          <p:nvPr/>
        </p:nvSpPr>
        <p:spPr>
          <a:xfrm>
            <a:off x="359812" y="3092216"/>
            <a:ext cx="10350000" cy="1754596"/>
          </a:xfrm>
          <a:prstGeom prst="rect">
            <a:avLst/>
          </a:prstGeom>
          <a:noFill/>
          <a:ln w="15875">
            <a:solidFill>
              <a:schemeClr val="accent1">
                <a:shade val="50000"/>
              </a:schemeClr>
            </a:solidFill>
          </a:ln>
        </p:spPr>
        <p:txBody>
          <a:bodyPr>
            <a:noAutofit/>
          </a:bodyPr>
          <a:lstStyle>
            <a:defPPr>
              <a:defRPr lang="en-US"/>
            </a:defPPr>
            <a:lvl1pPr indent="0" defTabSz="2138324">
              <a:lnSpc>
                <a:spcPct val="90000"/>
              </a:lnSpc>
              <a:spcBef>
                <a:spcPts val="2339"/>
              </a:spcBef>
              <a:buFont typeface="Arial" panose="020B0604020202020204" pitchFamily="34" charset="0"/>
              <a:buNone/>
              <a:defRPr sz="2400"/>
            </a:lvl1pPr>
            <a:lvl2pPr marL="1603743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5612"/>
            </a:lvl2pPr>
            <a:lvl3pPr marL="2672906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677"/>
            </a:lvl3pPr>
            <a:lvl4pPr marL="3742068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/>
            </a:lvl4pPr>
            <a:lvl5pPr marL="4811230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/>
            </a:lvl5pPr>
            <a:lvl6pPr marL="5880392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/>
            </a:lvl6pPr>
            <a:lvl7pPr marL="6949554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/>
            </a:lvl7pPr>
            <a:lvl8pPr marL="8018717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/>
            </a:lvl8pPr>
            <a:lvl9pPr marL="9087879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/>
            </a:lvl9pPr>
          </a:lstStyle>
          <a:p>
            <a:r>
              <a:rPr lang="en-US" dirty="0"/>
              <a:t>Static credentials are device-agnostic and vulnerable to replay or theft. Camera PRNU and microphone thermal noise create unique hardware fingerprints, but prior methods required large offline batches. QNA-Auth bridges this gap using short live samples, Siamese-learned similarity, and nonce-bound challenges to block replay.</a:t>
            </a:r>
            <a:endParaRPr lang="en-IN" dirty="0"/>
          </a:p>
        </p:txBody>
      </p:sp>
      <p:sp>
        <p:nvSpPr>
          <p:cNvPr id="22" name="Rectangle 21"/>
          <p:cNvSpPr/>
          <p:nvPr/>
        </p:nvSpPr>
        <p:spPr>
          <a:xfrm>
            <a:off x="415049" y="2481980"/>
            <a:ext cx="251491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dirty="0"/>
              <a:t>Introduction</a:t>
            </a:r>
          </a:p>
        </p:txBody>
      </p:sp>
      <p:sp>
        <p:nvSpPr>
          <p:cNvPr id="27" name="Text Placeholder 68"/>
          <p:cNvSpPr txBox="1">
            <a:spLocks/>
          </p:cNvSpPr>
          <p:nvPr/>
        </p:nvSpPr>
        <p:spPr>
          <a:xfrm>
            <a:off x="10703962" y="23383399"/>
            <a:ext cx="10350000" cy="1967165"/>
          </a:xfrm>
          <a:prstGeom prst="rect">
            <a:avLst/>
          </a:prstGeom>
          <a:noFill/>
          <a:ln w="15875">
            <a:solidFill>
              <a:schemeClr val="accent1">
                <a:shade val="50000"/>
              </a:schemeClr>
            </a:solidFill>
          </a:ln>
        </p:spPr>
        <p:txBody>
          <a:bodyPr>
            <a:noAutofit/>
          </a:bodyPr>
          <a:lstStyle>
            <a:defPPr>
              <a:defRPr lang="en-US"/>
            </a:defPPr>
            <a:lvl1pPr indent="0" defTabSz="2138324">
              <a:lnSpc>
                <a:spcPct val="90000"/>
              </a:lnSpc>
              <a:spcBef>
                <a:spcPts val="2339"/>
              </a:spcBef>
              <a:buFont typeface="Arial" panose="020B0604020202020204" pitchFamily="34" charset="0"/>
              <a:buNone/>
              <a:defRPr sz="2400"/>
            </a:lvl1pPr>
            <a:lvl2pPr marL="1603743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5612"/>
            </a:lvl2pPr>
            <a:lvl3pPr marL="2672906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677"/>
            </a:lvl3pPr>
            <a:lvl4pPr marL="3742068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/>
            </a:lvl4pPr>
            <a:lvl5pPr marL="4811230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/>
            </a:lvl5pPr>
            <a:lvl6pPr marL="5880392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/>
            </a:lvl6pPr>
            <a:lvl7pPr marL="6949554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/>
            </a:lvl7pPr>
            <a:lvl8pPr marL="8018717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/>
            </a:lvl8pPr>
            <a:lvl9pPr marL="9087879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/>
            </a:lvl9pPr>
          </a:lstStyle>
          <a:p>
            <a:r>
              <a:rPr lang="en-IN" dirty="0"/>
              <a:t>Camera PRNU feasible (AUC 0.858 under short-sample); mic weaker (0.710); 85/15 fusion justified; replay/impersonation/synthetic attacks → 0% ASR, supporting viability. Small scale (6 devices, single-session); needs 25+ devices, multi-session + cross-session eval, env-specific thresholds, stronger anti-spoofing. Not a crypto identity replacement.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16362" y="25350564"/>
            <a:ext cx="10296729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References</a:t>
            </a:r>
          </a:p>
          <a:p>
            <a:r>
              <a:rPr lang="en-IN" sz="2400" dirty="0"/>
              <a:t>[1] Lukas, Fridrich, &amp; </a:t>
            </a:r>
            <a:r>
              <a:rPr lang="en-IN" sz="2400" dirty="0" err="1"/>
              <a:t>Goljan</a:t>
            </a:r>
            <a:r>
              <a:rPr lang="en-IN" sz="2400" dirty="0"/>
              <a:t>, M. (2006). Digital camera identification from sensor </a:t>
            </a:r>
            <a:r>
              <a:rPr lang="en-IN" sz="2400" dirty="0" err="1"/>
              <a:t>pattem</a:t>
            </a:r>
            <a:endParaRPr lang="en-IN" sz="2400" dirty="0"/>
          </a:p>
          <a:p>
            <a:r>
              <a:rPr lang="en-IN" sz="2400" dirty="0"/>
              <a:t>noise. IEEE TIES, 1(2), 205-214-</a:t>
            </a:r>
          </a:p>
          <a:p>
            <a:r>
              <a:rPr lang="en-IN" sz="2400" dirty="0"/>
              <a:t>[2] </a:t>
            </a:r>
            <a:r>
              <a:rPr lang="en-IN" sz="2400" dirty="0" err="1"/>
              <a:t>Goljan</a:t>
            </a:r>
            <a:r>
              <a:rPr lang="en-IN" sz="2400" dirty="0"/>
              <a:t>, M- Fridrich, J., &amp; Filler, T. (2009). Large scale test of sensor fingerprint camera</a:t>
            </a:r>
          </a:p>
          <a:p>
            <a:r>
              <a:rPr lang="en-IN" sz="2400" dirty="0"/>
              <a:t>identification. SPIE Media Forensics and Security, 7254.CCS</a:t>
            </a:r>
          </a:p>
          <a:p>
            <a:r>
              <a:rPr lang="en-US" sz="2400" b="1" dirty="0"/>
              <a:t>Demo Video Link:</a:t>
            </a:r>
          </a:p>
          <a:p>
            <a:r>
              <a:rPr lang="en-US" sz="2400" b="1" dirty="0"/>
              <a:t> </a:t>
            </a:r>
            <a:r>
              <a:rPr lang="en-US" sz="2400" dirty="0"/>
              <a:t>Paste the QR code of demo video link here. Should be accessible by anyone.</a:t>
            </a:r>
          </a:p>
          <a:p>
            <a:pPr algn="ctr"/>
            <a:endParaRPr lang="en-US" sz="3600" dirty="0"/>
          </a:p>
        </p:txBody>
      </p:sp>
      <p:sp>
        <p:nvSpPr>
          <p:cNvPr id="29" name="Rectangle 28"/>
          <p:cNvSpPr/>
          <p:nvPr/>
        </p:nvSpPr>
        <p:spPr>
          <a:xfrm>
            <a:off x="10788168" y="22741062"/>
            <a:ext cx="22333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dirty="0"/>
              <a:t>Conclusion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402" y="419069"/>
            <a:ext cx="2031221" cy="1961692"/>
          </a:xfrm>
          <a:prstGeom prst="rect">
            <a:avLst/>
          </a:prstGeom>
        </p:spPr>
      </p:pic>
      <p:sp>
        <p:nvSpPr>
          <p:cNvPr id="24" name="Text Placeholder 68"/>
          <p:cNvSpPr txBox="1">
            <a:spLocks/>
          </p:cNvSpPr>
          <p:nvPr/>
        </p:nvSpPr>
        <p:spPr>
          <a:xfrm>
            <a:off x="415448" y="5626363"/>
            <a:ext cx="10276364" cy="1601746"/>
          </a:xfrm>
          <a:prstGeom prst="rect">
            <a:avLst/>
          </a:prstGeom>
          <a:noFill/>
          <a:ln w="15875">
            <a:solidFill>
              <a:schemeClr val="accent1">
                <a:shade val="50000"/>
              </a:schemeClr>
            </a:solidFill>
          </a:ln>
        </p:spPr>
        <p:txBody>
          <a:bodyPr>
            <a:noAutofit/>
          </a:bodyPr>
          <a:lstStyle>
            <a:defPPr>
              <a:defRPr lang="en-US"/>
            </a:defPPr>
            <a:lvl1pPr indent="0" defTabSz="2138324">
              <a:lnSpc>
                <a:spcPct val="90000"/>
              </a:lnSpc>
              <a:spcBef>
                <a:spcPts val="2339"/>
              </a:spcBef>
              <a:buFont typeface="Arial" panose="020B0604020202020204" pitchFamily="34" charset="0"/>
              <a:buNone/>
              <a:defRPr sz="2400"/>
            </a:lvl1pPr>
            <a:lvl2pPr marL="1603743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5612"/>
            </a:lvl2pPr>
            <a:lvl3pPr marL="2672906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677"/>
            </a:lvl3pPr>
            <a:lvl4pPr marL="3742068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/>
            </a:lvl4pPr>
            <a:lvl5pPr marL="4811230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/>
            </a:lvl5pPr>
            <a:lvl6pPr marL="5880392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/>
            </a:lvl6pPr>
            <a:lvl7pPr marL="6949554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/>
            </a:lvl7pPr>
            <a:lvl8pPr marL="8018717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/>
            </a:lvl8pPr>
            <a:lvl9pPr marL="9087879" indent="-534581" defTabSz="2138324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/>
            </a:lvl9pPr>
          </a:lstStyle>
          <a:p>
            <a:r>
              <a:rPr lang="en-US" dirty="0"/>
              <a:t>Static credentials authenticate knowledge, not hardware, and </a:t>
            </a:r>
            <a:r>
              <a:rPr lang="en-US" dirty="0" err="1"/>
              <a:t>replayable</a:t>
            </a:r>
            <a:r>
              <a:rPr lang="en-US" dirty="0"/>
              <a:t> unlike manufacturing-induced sensor fingerprints, which are device-bound and unique. QNA-Auth exploits these fingerprints via short live samples, learned embeddings, and HKDF nonce-binding to close the replay vector.</a:t>
            </a:r>
            <a:endParaRPr lang="en-IN" dirty="0"/>
          </a:p>
        </p:txBody>
      </p:sp>
      <p:sp>
        <p:nvSpPr>
          <p:cNvPr id="25" name="Rectangle 24"/>
          <p:cNvSpPr/>
          <p:nvPr/>
        </p:nvSpPr>
        <p:spPr>
          <a:xfrm>
            <a:off x="396948" y="4878812"/>
            <a:ext cx="22463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dirty="0"/>
              <a:t>Motivation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7AD927-4A29-157D-4A38-E019900B94D9}"/>
              </a:ext>
            </a:extLst>
          </p:cNvPr>
          <p:cNvSpPr txBox="1"/>
          <p:nvPr/>
        </p:nvSpPr>
        <p:spPr>
          <a:xfrm>
            <a:off x="487821" y="27474953"/>
            <a:ext cx="1017944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Student </a:t>
            </a:r>
            <a:r>
              <a:rPr lang="en-IN" sz="3200" b="1" dirty="0" err="1"/>
              <a:t>RegNo</a:t>
            </a:r>
            <a:r>
              <a:rPr lang="en-IN" sz="3200" b="1" dirty="0"/>
              <a:t>, Name: </a:t>
            </a:r>
          </a:p>
          <a:p>
            <a:r>
              <a:rPr lang="en-IN" sz="3200" dirty="0"/>
              <a:t>Ayan Kumar Singh-22BCI0182, </a:t>
            </a:r>
          </a:p>
          <a:p>
            <a:r>
              <a:rPr lang="en-IN" sz="3200" dirty="0"/>
              <a:t>Krishnam Biyani-22BCI0190</a:t>
            </a:r>
          </a:p>
          <a:p>
            <a:r>
              <a:rPr lang="en-IN" sz="3200" b="1" dirty="0"/>
              <a:t>Guide Name: </a:t>
            </a:r>
            <a:r>
              <a:rPr lang="en-IN" sz="3200" dirty="0"/>
              <a:t>Prof.</a:t>
            </a:r>
            <a:r>
              <a:rPr lang="en-IN" sz="3200" b="1" dirty="0"/>
              <a:t> </a:t>
            </a:r>
            <a:r>
              <a:rPr lang="en-IN" sz="3200" dirty="0"/>
              <a:t>Jim Solomon Raja D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F43DF77-F4C5-6779-2609-66C999AD87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32" y="17456084"/>
            <a:ext cx="10012680" cy="1689151"/>
          </a:xfrm>
          <a:prstGeom prst="rect">
            <a:avLst/>
          </a:prstGeom>
        </p:spPr>
      </p:pic>
      <p:pic>
        <p:nvPicPr>
          <p:cNvPr id="23" name="Picture 22" descr="A diagram of a system&#10;&#10;Description automatically generated">
            <a:extLst>
              <a:ext uri="{FF2B5EF4-FFF2-40B4-BE49-F238E27FC236}">
                <a16:creationId xmlns:a16="http://schemas.microsoft.com/office/drawing/2014/main" id="{84A92997-9281-C48F-FB89-783D345BB9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66" y="20406214"/>
            <a:ext cx="9968534" cy="62499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D77948DD-294A-ED1A-2AA2-02D94322C17B}"/>
              </a:ext>
            </a:extLst>
          </p:cNvPr>
          <p:cNvSpPr/>
          <p:nvPr/>
        </p:nvSpPr>
        <p:spPr>
          <a:xfrm>
            <a:off x="606181" y="26742368"/>
            <a:ext cx="99685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i="1" dirty="0"/>
              <a:t>Fig. 2 — Full QNA-Auth pipeline: data capture, preprocessing, Siamese embedding, authentication logic and output decision flow.</a:t>
            </a:r>
            <a:endParaRPr lang="en-AU" sz="1800" i="1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E432802-28B3-48ED-C4F5-77252AE893F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144" y="12962369"/>
            <a:ext cx="5018519" cy="390144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08722E9-96DE-5074-3EB9-404A9926348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4663" y="12962369"/>
            <a:ext cx="5018519" cy="390143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D418D37-3B36-BC1B-5332-B69E488DB9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8167" y="3615280"/>
            <a:ext cx="9771781" cy="153583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B051EAF7-045C-34D7-210C-3FE9DB0847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88167" y="6057501"/>
            <a:ext cx="9771781" cy="2004467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17D26A3E-C7B4-8645-D393-3B32F4571D85}"/>
              </a:ext>
            </a:extLst>
          </p:cNvPr>
          <p:cNvSpPr/>
          <p:nvPr/>
        </p:nvSpPr>
        <p:spPr>
          <a:xfrm>
            <a:off x="10819211" y="8101557"/>
            <a:ext cx="996853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i="1" dirty="0"/>
              <a:t>Note: All three methods evaluated on same device-held-out split (seed=42). Raw cosine and MLP show 100% on this small 40-sample run; Siamese </a:t>
            </a:r>
            <a:r>
              <a:rPr lang="en-US" sz="1800" i="1" dirty="0" err="1"/>
              <a:t>generalises</a:t>
            </a:r>
            <a:r>
              <a:rPr lang="en-US" sz="1800" i="1" dirty="0"/>
              <a:t> differently — broader evaluation needed for claim strength.</a:t>
            </a:r>
            <a:endParaRPr lang="en-AU" sz="1800" i="1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DCCB82F-E0CE-CE95-D867-6E5D8D73ED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19211" y="9837638"/>
            <a:ext cx="9835304" cy="2531861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5686810D-62AB-B4FD-5588-391903211CB6}"/>
              </a:ext>
            </a:extLst>
          </p:cNvPr>
          <p:cNvSpPr/>
          <p:nvPr/>
        </p:nvSpPr>
        <p:spPr>
          <a:xfrm>
            <a:off x="10894695" y="16952184"/>
            <a:ext cx="99685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i="1" dirty="0"/>
              <a:t>Fig. 3 — ROC and Precision-Recall curves, Siamese model, microphone source, capstone run 20260422T122948Z.</a:t>
            </a:r>
            <a:endParaRPr lang="en-AU" sz="1800" i="1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5A638B53-EEB2-E331-CD23-0765A39CED9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4695" y="17612841"/>
            <a:ext cx="9852511" cy="4497886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9A3932D6-C1D3-EFF3-EE10-B685AF86684B}"/>
              </a:ext>
            </a:extLst>
          </p:cNvPr>
          <p:cNvSpPr/>
          <p:nvPr/>
        </p:nvSpPr>
        <p:spPr>
          <a:xfrm>
            <a:off x="11044557" y="22101902"/>
            <a:ext cx="99685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i="1" dirty="0"/>
              <a:t>Fig. 4. Projected Metrics Dashboard for one shot training for more than 20 devices</a:t>
            </a:r>
            <a:endParaRPr lang="en-AU" sz="1800" i="1" dirty="0"/>
          </a:p>
        </p:txBody>
      </p:sp>
    </p:spTree>
    <p:extLst>
      <p:ext uri="{BB962C8B-B14F-4D97-AF65-F5344CB8AC3E}">
        <p14:creationId xmlns:p14="http://schemas.microsoft.com/office/powerpoint/2010/main" val="3606041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ster_2016_m.potx" id="{C99F4834-73B2-44AB-9211-DD57E3EBE727}" vid="{C99B119E-4D31-4661-B76A-37761BBBC0B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816</TotalTime>
  <Words>707</Words>
  <Application>Microsoft Office PowerPoint</Application>
  <PresentationFormat>Custom</PresentationFormat>
  <Paragraphs>67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Jayasankar Variyar</dc:creator>
  <cp:lastModifiedBy>Ayan Kumar Singh</cp:lastModifiedBy>
  <cp:revision>35</cp:revision>
  <dcterms:created xsi:type="dcterms:W3CDTF">2016-03-28T06:32:15Z</dcterms:created>
  <dcterms:modified xsi:type="dcterms:W3CDTF">2026-04-27T19:23:40Z</dcterms:modified>
</cp:coreProperties>
</file>