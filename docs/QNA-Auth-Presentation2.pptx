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92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5" d="100"/>
          <a:sy n="55" d="100"/>
        </p:scale>
        <p:origin x="65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070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829925" cy="10287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Shape 1"/>
          <p:cNvSpPr/>
          <p:nvPr/>
        </p:nvSpPr>
        <p:spPr>
          <a:xfrm>
            <a:off x="7972425" y="0"/>
            <a:ext cx="2857500" cy="2857500"/>
          </a:xfrm>
          <a:prstGeom prst="rect">
            <a:avLst/>
          </a:prstGeom>
          <a:solidFill>
            <a:srgbClr val="C89B3C">
              <a:alpha val="12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" name="Text 2"/>
          <p:cNvSpPr/>
          <p:nvPr/>
        </p:nvSpPr>
        <p:spPr>
          <a:xfrm>
            <a:off x="952500" y="3305175"/>
            <a:ext cx="9388888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300" dirty="0">
                <a:solidFill>
                  <a:srgbClr val="C89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PROJECT PRESENTATION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52500" y="3869055"/>
            <a:ext cx="9388888" cy="782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51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QNA-Auth</a:t>
            </a:r>
            <a:endParaRPr lang="en-US" sz="5100" dirty="0"/>
          </a:p>
        </p:txBody>
      </p:sp>
      <p:sp>
        <p:nvSpPr>
          <p:cNvPr id="6" name="Text 4"/>
          <p:cNvSpPr/>
          <p:nvPr/>
        </p:nvSpPr>
        <p:spPr>
          <a:xfrm>
            <a:off x="952500" y="4804410"/>
            <a:ext cx="9388888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>
              <a:lnSpc>
                <a:spcPct val="140000"/>
              </a:lnSpc>
            </a:pPr>
            <a:r>
              <a:rPr lang="en-US" sz="3200" b="1" dirty="0">
                <a:solidFill>
                  <a:srgbClr val="96928C"/>
                </a:solidFill>
              </a:rPr>
              <a:t>Quantum Noise-Assisted AI Authentication System for Authentication</a:t>
            </a:r>
            <a:endParaRPr lang="en-IN" sz="3200" b="1" dirty="0">
              <a:solidFill>
                <a:srgbClr val="96928C"/>
              </a:solidFill>
            </a:endParaRPr>
          </a:p>
          <a:p>
            <a:pPr marL="0" indent="0" algn="l">
              <a:lnSpc>
                <a:spcPct val="140000"/>
              </a:lnSpc>
              <a:buNone/>
            </a:pPr>
            <a:endParaRPr lang="en-US" sz="2850" b="1" dirty="0">
              <a:solidFill>
                <a:srgbClr val="96928C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952500" y="6198870"/>
            <a:ext cx="952500" cy="28575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" name="Text 6"/>
          <p:cNvSpPr/>
          <p:nvPr/>
        </p:nvSpPr>
        <p:spPr>
          <a:xfrm>
            <a:off x="952500" y="6275762"/>
            <a:ext cx="9388888" cy="11175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B8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Krishnam Biyani: 22BCI0190</a:t>
            </a:r>
          </a:p>
          <a:p>
            <a:pPr marL="0" indent="0" algn="l">
              <a:buNone/>
            </a:pPr>
            <a:r>
              <a:rPr lang="en-US" sz="2100" dirty="0">
                <a:solidFill>
                  <a:srgbClr val="B8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 Kumar Singh: 22BCI0182</a:t>
            </a:r>
          </a:p>
          <a:p>
            <a:pPr marL="0" indent="0" algn="l">
              <a:buNone/>
            </a:pPr>
            <a:r>
              <a:rPr lang="en-US" sz="2100" dirty="0">
                <a:solidFill>
                  <a:srgbClr val="B8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Guide: Professor Jim Solomon Raja D</a:t>
            </a:r>
          </a:p>
          <a:p>
            <a:pPr marL="0" indent="0" algn="l">
              <a:buNone/>
            </a:pP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52500" y="7450455"/>
            <a:ext cx="9388888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B8B0A4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Vellore Institute of Technology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829925" y="0"/>
            <a:ext cx="7458075" cy="10287000"/>
          </a:xfrm>
          <a:prstGeom prst="rect">
            <a:avLst/>
          </a:prstGeom>
          <a:solidFill>
            <a:srgbClr val="F8F7F4"/>
          </a:solidFill>
          <a:ln/>
        </p:spPr>
        <p:txBody>
          <a:bodyPr/>
          <a:lstStyle/>
          <a:p>
            <a:endParaRPr lang="en-IN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558713" y="4587835"/>
            <a:ext cx="4000500" cy="11112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8199" y="0"/>
            <a:ext cx="18288000" cy="10287000"/>
          </a:xfrm>
          <a:prstGeom prst="rect">
            <a:avLst/>
          </a:prstGeom>
          <a:solidFill>
            <a:srgbClr val="F8F7F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52500" y="952500"/>
            <a:ext cx="1687449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C89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SYNOPSIS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432560"/>
            <a:ext cx="16874490" cy="6734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435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2372678"/>
            <a:ext cx="1143000" cy="38100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952500" y="2829878"/>
            <a:ext cx="8123301" cy="15516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5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QNA-Auth is a research prototype that explores </a:t>
            </a:r>
            <a:r>
              <a:rPr lang="en-US" sz="255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sensor-noise fingerprinting </a:t>
            </a:r>
            <a:r>
              <a:rPr lang="en-US" sz="25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device verification mechanism.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52500" y="4610100"/>
            <a:ext cx="8123301" cy="20688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5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captures intrinsic noise from </a:t>
            </a:r>
            <a:r>
              <a:rPr lang="en-US" sz="255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dark-frames </a:t>
            </a:r>
            <a:r>
              <a:rPr lang="en-US" sz="25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r>
              <a:rPr lang="en-US" sz="255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microphone ambient recordings </a:t>
            </a:r>
            <a:r>
              <a:rPr lang="en-US" sz="25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extracts statistical and spectral features, and learns discriminative embeddings via a </a:t>
            </a:r>
            <a:r>
              <a:rPr lang="en-US" sz="255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Siamese neural network</a:t>
            </a:r>
            <a:r>
              <a:rPr lang="en-US" sz="25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52500" y="6907530"/>
            <a:ext cx="8123301" cy="20612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5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produces high-confidence </a:t>
            </a:r>
            <a:r>
              <a:rPr lang="en-US" sz="255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matching decisions </a:t>
            </a:r>
            <a:r>
              <a:rPr lang="en-US" sz="25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accept, uncertain, or reject — through weighted multi-modal fusion and threshold calibration.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704451" y="2763679"/>
            <a:ext cx="7886700" cy="1592580"/>
          </a:xfrm>
          <a:prstGeom prst="roundRect">
            <a:avLst>
              <a:gd name="adj" fmla="val 7177"/>
            </a:avLst>
          </a:prstGeom>
          <a:solidFill>
            <a:srgbClr val="F8F7F4"/>
          </a:solidFill>
          <a:ln w="7620">
            <a:solidFill>
              <a:srgbClr val="EDE9E3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9907944" y="3037999"/>
            <a:ext cx="7479716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4050" b="1" dirty="0">
                <a:solidFill>
                  <a:srgbClr val="2E6D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0.858</a:t>
            </a:r>
            <a:endParaRPr lang="en-US" sz="4050" dirty="0"/>
          </a:p>
        </p:txBody>
      </p:sp>
      <p:sp>
        <p:nvSpPr>
          <p:cNvPr id="11" name="Text 9"/>
          <p:cNvSpPr/>
          <p:nvPr/>
        </p:nvSpPr>
        <p:spPr>
          <a:xfrm>
            <a:off x="9907944" y="3822859"/>
            <a:ext cx="747971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ROC-AUC (Measured)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704451" y="4584859"/>
            <a:ext cx="7886700" cy="1592580"/>
          </a:xfrm>
          <a:prstGeom prst="roundRect">
            <a:avLst>
              <a:gd name="adj" fmla="val 7177"/>
            </a:avLst>
          </a:prstGeom>
          <a:solidFill>
            <a:srgbClr val="F8F7F4"/>
          </a:solidFill>
          <a:ln w="7620">
            <a:solidFill>
              <a:srgbClr val="EDE9E3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9907944" y="4859179"/>
            <a:ext cx="7479716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4050" b="1" dirty="0">
                <a:solidFill>
                  <a:srgbClr val="2E6D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</a:t>
            </a:r>
            <a:endParaRPr lang="en-US" sz="4050" dirty="0"/>
          </a:p>
        </p:txBody>
      </p:sp>
      <p:sp>
        <p:nvSpPr>
          <p:cNvPr id="14" name="Text 12"/>
          <p:cNvSpPr/>
          <p:nvPr/>
        </p:nvSpPr>
        <p:spPr>
          <a:xfrm>
            <a:off x="9907944" y="5644039"/>
            <a:ext cx="747971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Fused ROC-AUC (Projected)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704451" y="6406039"/>
            <a:ext cx="7886700" cy="1592580"/>
          </a:xfrm>
          <a:prstGeom prst="roundRect">
            <a:avLst>
              <a:gd name="adj" fmla="val 7177"/>
            </a:avLst>
          </a:prstGeom>
          <a:solidFill>
            <a:srgbClr val="F8F7F4"/>
          </a:solidFill>
          <a:ln w="7620">
            <a:solidFill>
              <a:srgbClr val="EDE9E3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6" name="Text 14"/>
          <p:cNvSpPr/>
          <p:nvPr/>
        </p:nvSpPr>
        <p:spPr>
          <a:xfrm>
            <a:off x="9907944" y="6680359"/>
            <a:ext cx="7479716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4050" b="1" dirty="0">
                <a:solidFill>
                  <a:srgbClr val="2E6D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050" dirty="0"/>
          </a:p>
        </p:txBody>
      </p:sp>
      <p:sp>
        <p:nvSpPr>
          <p:cNvPr id="17" name="Text 15"/>
          <p:cNvSpPr/>
          <p:nvPr/>
        </p:nvSpPr>
        <p:spPr>
          <a:xfrm>
            <a:off x="9907944" y="7465219"/>
            <a:ext cx="747971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Devices Enrolled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52500" y="952500"/>
            <a:ext cx="1687449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C89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432560"/>
            <a:ext cx="16874490" cy="6734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435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with Static Credentials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2372678"/>
            <a:ext cx="1143000" cy="38100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1295400" y="2925128"/>
            <a:ext cx="7780401" cy="1440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device authentication relies on passwords, tokens, or certificates — all of which can be </a:t>
            </a:r>
            <a:r>
              <a:rPr lang="en-US" sz="2400" b="1" dirty="0">
                <a:solidFill>
                  <a:srgbClr val="E8C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stolen, replayed, or shared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95400" y="4517708"/>
            <a:ext cx="7780401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Hardware-bound credentials (TPM, Secure Enclave) require specialized silicon not available on all devices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95400" y="5622607"/>
            <a:ext cx="7780401" cy="967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noise is an </a:t>
            </a:r>
            <a:r>
              <a:rPr lang="en-US" sz="2400" b="1" dirty="0">
                <a:solidFill>
                  <a:srgbClr val="E8C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intrinsic physical property </a:t>
            </a:r>
            <a:r>
              <a:rPr lang="en-US" sz="24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to each device's manufacturing process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95400" y="6742748"/>
            <a:ext cx="7780401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QNA-Auth investigates whether these noise patterns can serve as a practical, software-only device fingerprint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738550" y="3317557"/>
            <a:ext cx="7886700" cy="2203133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Shape 9"/>
          <p:cNvSpPr/>
          <p:nvPr/>
        </p:nvSpPr>
        <p:spPr>
          <a:xfrm>
            <a:off x="9738550" y="3317557"/>
            <a:ext cx="38100" cy="2203133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10081450" y="3584257"/>
            <a:ext cx="7456170" cy="38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E8C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0081450" y="4010977"/>
            <a:ext cx="7456170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camera and microphone sensor noise, combined with metric learning, achieve viable device verification under live, short-sample conditions?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738550" y="5711189"/>
            <a:ext cx="7886700" cy="178879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Shape 13"/>
          <p:cNvSpPr/>
          <p:nvPr/>
        </p:nvSpPr>
        <p:spPr>
          <a:xfrm>
            <a:off x="9738550" y="5711189"/>
            <a:ext cx="38100" cy="1788795"/>
          </a:xfrm>
          <a:prstGeom prst="rect">
            <a:avLst/>
          </a:prstGeom>
          <a:solidFill>
            <a:srgbClr val="2E6DB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6" name="Text 14"/>
          <p:cNvSpPr/>
          <p:nvPr/>
        </p:nvSpPr>
        <p:spPr>
          <a:xfrm>
            <a:off x="10081450" y="5977889"/>
            <a:ext cx="7456170" cy="38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0081450" y="6404610"/>
            <a:ext cx="745617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Multi-modal Siamese embeddings with confidence-band decisions and nonce-bound challenge hardening</a:t>
            </a:r>
            <a:endParaRPr lang="en-US" sz="2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7F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52500" y="952500"/>
            <a:ext cx="1687449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C89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DESIGN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432560"/>
            <a:ext cx="16874490" cy="607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and Data Flow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52500" y="2306955"/>
            <a:ext cx="1143000" cy="38100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>
            <a:off x="5000625" y="3325178"/>
            <a:ext cx="8286750" cy="5524500"/>
          </a:xfrm>
          <a:prstGeom prst="roundRect">
            <a:avLst>
              <a:gd name="adj" fmla="val 1379"/>
            </a:avLst>
          </a:prstGeom>
          <a:ln/>
          <a:effectLst>
            <a:outerShdw blurRad="228600" dist="381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31625" y="2268855"/>
            <a:ext cx="11624750" cy="774983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7F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52500" y="952500"/>
            <a:ext cx="1687449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C89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432560"/>
            <a:ext cx="16874490" cy="607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Composition and Split Policy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52500" y="2306955"/>
            <a:ext cx="1143000" cy="38100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>
            <a:off x="952500" y="2726055"/>
            <a:ext cx="6242209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23950" y="2859405"/>
            <a:ext cx="6086575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194709" y="2726055"/>
            <a:ext cx="1644491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7289959" y="2859405"/>
            <a:ext cx="1377791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3888105"/>
            <a:ext cx="624220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23950" y="3434715"/>
            <a:ext cx="6086575" cy="377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real samples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7194709" y="3888105"/>
            <a:ext cx="1644491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7289959" y="3434715"/>
            <a:ext cx="1377791" cy="377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952500" y="3895725"/>
            <a:ext cx="6242209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Shape 13"/>
          <p:cNvSpPr/>
          <p:nvPr/>
        </p:nvSpPr>
        <p:spPr>
          <a:xfrm>
            <a:off x="952500" y="4467225"/>
            <a:ext cx="624220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6" name="Text 14"/>
          <p:cNvSpPr/>
          <p:nvPr/>
        </p:nvSpPr>
        <p:spPr>
          <a:xfrm>
            <a:off x="1123950" y="4010025"/>
            <a:ext cx="60865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devices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7194709" y="3895725"/>
            <a:ext cx="1644491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8" name="Shape 16"/>
          <p:cNvSpPr/>
          <p:nvPr/>
        </p:nvSpPr>
        <p:spPr>
          <a:xfrm>
            <a:off x="7194709" y="4467225"/>
            <a:ext cx="1644491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" name="Text 17"/>
          <p:cNvSpPr/>
          <p:nvPr/>
        </p:nvSpPr>
        <p:spPr>
          <a:xfrm>
            <a:off x="7289959" y="4010025"/>
            <a:ext cx="137779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952500" y="5046345"/>
            <a:ext cx="624220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1" name="Text 19"/>
          <p:cNvSpPr/>
          <p:nvPr/>
        </p:nvSpPr>
        <p:spPr>
          <a:xfrm>
            <a:off x="1123950" y="4589145"/>
            <a:ext cx="60865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samples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7194709" y="5046345"/>
            <a:ext cx="1644491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3" name="Text 21"/>
          <p:cNvSpPr/>
          <p:nvPr/>
        </p:nvSpPr>
        <p:spPr>
          <a:xfrm>
            <a:off x="7289959" y="4589145"/>
            <a:ext cx="137779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340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952500" y="5053965"/>
            <a:ext cx="6242209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5" name="Shape 23"/>
          <p:cNvSpPr/>
          <p:nvPr/>
        </p:nvSpPr>
        <p:spPr>
          <a:xfrm>
            <a:off x="952500" y="5625465"/>
            <a:ext cx="624220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6" name="Text 24"/>
          <p:cNvSpPr/>
          <p:nvPr/>
        </p:nvSpPr>
        <p:spPr>
          <a:xfrm>
            <a:off x="1123950" y="5168265"/>
            <a:ext cx="60865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Microphone samples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7194709" y="5053965"/>
            <a:ext cx="1644491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8" name="Shape 26"/>
          <p:cNvSpPr/>
          <p:nvPr/>
        </p:nvSpPr>
        <p:spPr>
          <a:xfrm>
            <a:off x="7194709" y="5625465"/>
            <a:ext cx="1644491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9" name="Text 27"/>
          <p:cNvSpPr/>
          <p:nvPr/>
        </p:nvSpPr>
        <p:spPr>
          <a:xfrm>
            <a:off x="7289959" y="5168265"/>
            <a:ext cx="137779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952500" y="6204585"/>
            <a:ext cx="624220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1" name="Text 29"/>
          <p:cNvSpPr/>
          <p:nvPr/>
        </p:nvSpPr>
        <p:spPr>
          <a:xfrm>
            <a:off x="1123950" y="5747385"/>
            <a:ext cx="60865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 with both modalities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7194709" y="6204585"/>
            <a:ext cx="1644491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3" name="Text 31"/>
          <p:cNvSpPr/>
          <p:nvPr/>
        </p:nvSpPr>
        <p:spPr>
          <a:xfrm>
            <a:off x="7289959" y="5747385"/>
            <a:ext cx="137779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75" dirty="0"/>
          </a:p>
        </p:txBody>
      </p:sp>
      <p:sp>
        <p:nvSpPr>
          <p:cNvPr id="34" name="Shape 32"/>
          <p:cNvSpPr/>
          <p:nvPr/>
        </p:nvSpPr>
        <p:spPr>
          <a:xfrm>
            <a:off x="952500" y="6212205"/>
            <a:ext cx="6242209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5" name="Shape 33"/>
          <p:cNvSpPr/>
          <p:nvPr/>
        </p:nvSpPr>
        <p:spPr>
          <a:xfrm>
            <a:off x="952500" y="6783705"/>
            <a:ext cx="624220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6" name="Text 34"/>
          <p:cNvSpPr/>
          <p:nvPr/>
        </p:nvSpPr>
        <p:spPr>
          <a:xfrm>
            <a:off x="1123950" y="6326505"/>
            <a:ext cx="60865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Camera-only devices</a:t>
            </a:r>
            <a:endParaRPr lang="en-US" sz="1875" dirty="0"/>
          </a:p>
        </p:txBody>
      </p:sp>
      <p:sp>
        <p:nvSpPr>
          <p:cNvPr id="37" name="Shape 35"/>
          <p:cNvSpPr/>
          <p:nvPr/>
        </p:nvSpPr>
        <p:spPr>
          <a:xfrm>
            <a:off x="7194709" y="6212205"/>
            <a:ext cx="1644491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8" name="Shape 36"/>
          <p:cNvSpPr/>
          <p:nvPr/>
        </p:nvSpPr>
        <p:spPr>
          <a:xfrm>
            <a:off x="7194709" y="6783705"/>
            <a:ext cx="1644491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9" name="Text 37"/>
          <p:cNvSpPr/>
          <p:nvPr/>
        </p:nvSpPr>
        <p:spPr>
          <a:xfrm>
            <a:off x="7289959" y="6326505"/>
            <a:ext cx="137779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75" dirty="0"/>
          </a:p>
        </p:txBody>
      </p:sp>
      <p:sp>
        <p:nvSpPr>
          <p:cNvPr id="40" name="Text 38"/>
          <p:cNvSpPr/>
          <p:nvPr/>
        </p:nvSpPr>
        <p:spPr>
          <a:xfrm>
            <a:off x="952500" y="7061835"/>
            <a:ext cx="8123301" cy="8458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policy: </a:t>
            </a:r>
            <a:r>
              <a:rPr lang="en-US" sz="2100" b="1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device-held-out </a:t>
            </a:r>
            <a:r>
              <a:rPr lang="en-US" sz="210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camera, </a:t>
            </a:r>
            <a:r>
              <a:rPr lang="en-US" sz="2100" b="1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device-session-held-out </a:t>
            </a:r>
            <a:r>
              <a:rPr lang="en-US" sz="210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microphone — no test device appears in training.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9448800" y="3956685"/>
            <a:ext cx="7886700" cy="4337685"/>
          </a:xfrm>
          <a:prstGeom prst="roundRect">
            <a:avLst>
              <a:gd name="adj" fmla="val 1757"/>
            </a:avLst>
          </a:prstGeom>
          <a:ln/>
          <a:effectLst>
            <a:outerShdw blurRad="190500" dist="381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pic>
        <p:nvPicPr>
          <p:cNvPr id="4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20250" y="2999422"/>
            <a:ext cx="7886700" cy="43376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52500" y="952500"/>
            <a:ext cx="1687449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C89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432560"/>
            <a:ext cx="16874490" cy="607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9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Tools and Software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52500" y="2306955"/>
            <a:ext cx="1143000" cy="38100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>
            <a:off x="952500" y="2802255"/>
            <a:ext cx="5232321" cy="6722745"/>
          </a:xfrm>
          <a:prstGeom prst="roundRect">
            <a:avLst>
              <a:gd name="adj" fmla="val 2184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257300" y="3145155"/>
            <a:ext cx="4761402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8C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70610" y="3716655"/>
            <a:ext cx="4885611" cy="400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— Siamese network, triplet loss training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 / SciPy — feature extraction &amp; signal processing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scikit-learn — evaluation metrics, threshold sweep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Matplotlib — ROC/PR curves, visualizations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6527721" y="2802255"/>
            <a:ext cx="5232440" cy="6722745"/>
          </a:xfrm>
          <a:prstGeom prst="roundRect">
            <a:avLst>
              <a:gd name="adj" fmla="val 2184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6832521" y="3145155"/>
            <a:ext cx="476152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8C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&amp; Data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645831" y="3716655"/>
            <a:ext cx="4885730" cy="400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— REST endpoints, enrollment &amp; auth flow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— challenge storage, session management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OpenCV — camera dark-frame noise capture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sounddevice — microphone ambient recording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2103060" y="2802255"/>
            <a:ext cx="5232440" cy="6722745"/>
          </a:xfrm>
          <a:prstGeom prst="roundRect">
            <a:avLst>
              <a:gd name="adj" fmla="val 2184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2407860" y="3145155"/>
            <a:ext cx="476152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8C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&amp; Security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221170" y="3716655"/>
            <a:ext cx="4885730" cy="400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 — demo UI with Tailwind CSS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HKDF + nonce — challenge-response hardening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— request validation &amp; type safety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 — data management &amp; manifest generation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7F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52500" y="952500"/>
            <a:ext cx="1687449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C89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432560"/>
            <a:ext cx="16874490" cy="607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Results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52500" y="2306955"/>
            <a:ext cx="1143000" cy="38100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>
            <a:off x="952500" y="2649855"/>
            <a:ext cx="1914644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23950" y="2783205"/>
            <a:ext cx="1647944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Modality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67144" y="2649855"/>
            <a:ext cx="1339810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3038594" y="2783205"/>
            <a:ext cx="107311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06955" y="2649855"/>
            <a:ext cx="1103233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4378405" y="2783205"/>
            <a:ext cx="836533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310188" y="2649855"/>
            <a:ext cx="1322308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5481638" y="2783205"/>
            <a:ext cx="105560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632496" y="2649855"/>
            <a:ext cx="1103233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6803946" y="2783205"/>
            <a:ext cx="836533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735729" y="2649855"/>
            <a:ext cx="1103471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" name="Text 15"/>
          <p:cNvSpPr/>
          <p:nvPr/>
        </p:nvSpPr>
        <p:spPr>
          <a:xfrm>
            <a:off x="7907179" y="2783205"/>
            <a:ext cx="836771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FRR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2500" y="3743325"/>
            <a:ext cx="1914644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" name="Text 17"/>
          <p:cNvSpPr/>
          <p:nvPr/>
        </p:nvSpPr>
        <p:spPr>
          <a:xfrm>
            <a:off x="1123950" y="3358515"/>
            <a:ext cx="1647944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2867144" y="3743325"/>
            <a:ext cx="1339810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1" name="Text 19"/>
          <p:cNvSpPr/>
          <p:nvPr/>
        </p:nvSpPr>
        <p:spPr>
          <a:xfrm>
            <a:off x="3038594" y="3358515"/>
            <a:ext cx="1073110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0.858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4206955" y="3743325"/>
            <a:ext cx="110323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3" name="Text 21"/>
          <p:cNvSpPr/>
          <p:nvPr/>
        </p:nvSpPr>
        <p:spPr>
          <a:xfrm>
            <a:off x="4378405" y="3358515"/>
            <a:ext cx="836533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26.8%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5310188" y="3743325"/>
            <a:ext cx="1322308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5" name="Text 23"/>
          <p:cNvSpPr/>
          <p:nvPr/>
        </p:nvSpPr>
        <p:spPr>
          <a:xfrm>
            <a:off x="5481638" y="3358515"/>
            <a:ext cx="1055608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78.9%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6632496" y="3743325"/>
            <a:ext cx="110323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7" name="Text 25"/>
          <p:cNvSpPr/>
          <p:nvPr/>
        </p:nvSpPr>
        <p:spPr>
          <a:xfrm>
            <a:off x="6803946" y="3358515"/>
            <a:ext cx="836533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6.2%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7735729" y="3743325"/>
            <a:ext cx="1103471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9" name="Text 27"/>
          <p:cNvSpPr/>
          <p:nvPr/>
        </p:nvSpPr>
        <p:spPr>
          <a:xfrm>
            <a:off x="7907179" y="3358515"/>
            <a:ext cx="836771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36.6%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952500" y="3750945"/>
            <a:ext cx="1914644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1" name="Shape 29"/>
          <p:cNvSpPr/>
          <p:nvPr/>
        </p:nvSpPr>
        <p:spPr>
          <a:xfrm>
            <a:off x="952500" y="4253865"/>
            <a:ext cx="1914644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2" name="Text 30"/>
          <p:cNvSpPr/>
          <p:nvPr/>
        </p:nvSpPr>
        <p:spPr>
          <a:xfrm>
            <a:off x="1123950" y="3865245"/>
            <a:ext cx="1647944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Microphone</a:t>
            </a:r>
            <a:endParaRPr lang="en-US" sz="1875" dirty="0"/>
          </a:p>
        </p:txBody>
      </p:sp>
      <p:sp>
        <p:nvSpPr>
          <p:cNvPr id="33" name="Shape 31"/>
          <p:cNvSpPr/>
          <p:nvPr/>
        </p:nvSpPr>
        <p:spPr>
          <a:xfrm>
            <a:off x="2867144" y="3750945"/>
            <a:ext cx="1339810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4" name="Shape 32"/>
          <p:cNvSpPr/>
          <p:nvPr/>
        </p:nvSpPr>
        <p:spPr>
          <a:xfrm>
            <a:off x="2867144" y="4253865"/>
            <a:ext cx="1339810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5" name="Text 33"/>
          <p:cNvSpPr/>
          <p:nvPr/>
        </p:nvSpPr>
        <p:spPr>
          <a:xfrm>
            <a:off x="3038594" y="3865245"/>
            <a:ext cx="10731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0.710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4206955" y="3750945"/>
            <a:ext cx="1103233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7" name="Shape 35"/>
          <p:cNvSpPr/>
          <p:nvPr/>
        </p:nvSpPr>
        <p:spPr>
          <a:xfrm>
            <a:off x="4206955" y="4253865"/>
            <a:ext cx="110323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8" name="Text 36"/>
          <p:cNvSpPr/>
          <p:nvPr/>
        </p:nvSpPr>
        <p:spPr>
          <a:xfrm>
            <a:off x="4378405" y="3865245"/>
            <a:ext cx="83653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36.4%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5310188" y="3750945"/>
            <a:ext cx="1322308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0" name="Shape 38"/>
          <p:cNvSpPr/>
          <p:nvPr/>
        </p:nvSpPr>
        <p:spPr>
          <a:xfrm>
            <a:off x="5310188" y="4253865"/>
            <a:ext cx="1322308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1" name="Text 39"/>
          <p:cNvSpPr/>
          <p:nvPr/>
        </p:nvSpPr>
        <p:spPr>
          <a:xfrm>
            <a:off x="5481638" y="3865245"/>
            <a:ext cx="1055608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64.6%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6632496" y="3750945"/>
            <a:ext cx="1103233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3" name="Shape 41"/>
          <p:cNvSpPr/>
          <p:nvPr/>
        </p:nvSpPr>
        <p:spPr>
          <a:xfrm>
            <a:off x="6632496" y="4253865"/>
            <a:ext cx="110323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4" name="Text 42"/>
          <p:cNvSpPr/>
          <p:nvPr/>
        </p:nvSpPr>
        <p:spPr>
          <a:xfrm>
            <a:off x="6803946" y="3865245"/>
            <a:ext cx="83653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30.5%</a:t>
            </a:r>
            <a:endParaRPr lang="en-US" sz="1875" dirty="0"/>
          </a:p>
        </p:txBody>
      </p:sp>
      <p:sp>
        <p:nvSpPr>
          <p:cNvPr id="45" name="Shape 43"/>
          <p:cNvSpPr/>
          <p:nvPr/>
        </p:nvSpPr>
        <p:spPr>
          <a:xfrm>
            <a:off x="7735729" y="3750945"/>
            <a:ext cx="1103471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6" name="Shape 44"/>
          <p:cNvSpPr/>
          <p:nvPr/>
        </p:nvSpPr>
        <p:spPr>
          <a:xfrm>
            <a:off x="7735729" y="4253865"/>
            <a:ext cx="1103471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7" name="Text 45"/>
          <p:cNvSpPr/>
          <p:nvPr/>
        </p:nvSpPr>
        <p:spPr>
          <a:xfrm>
            <a:off x="7907179" y="3865245"/>
            <a:ext cx="836771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40.2%</a:t>
            </a:r>
            <a:endParaRPr lang="en-US" sz="1875" dirty="0"/>
          </a:p>
        </p:txBody>
      </p:sp>
      <p:sp>
        <p:nvSpPr>
          <p:cNvPr id="48" name="Shape 46"/>
          <p:cNvSpPr/>
          <p:nvPr/>
        </p:nvSpPr>
        <p:spPr>
          <a:xfrm>
            <a:off x="952500" y="4832985"/>
            <a:ext cx="1914644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9" name="Text 47"/>
          <p:cNvSpPr/>
          <p:nvPr/>
        </p:nvSpPr>
        <p:spPr>
          <a:xfrm>
            <a:off x="1123950" y="4375785"/>
            <a:ext cx="164794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Fused (target)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2867144" y="4832985"/>
            <a:ext cx="1339810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1" name="Text 49"/>
          <p:cNvSpPr/>
          <p:nvPr/>
        </p:nvSpPr>
        <p:spPr>
          <a:xfrm>
            <a:off x="3038594" y="4375785"/>
            <a:ext cx="10731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0.930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4206955" y="4832985"/>
            <a:ext cx="110323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3" name="Text 51"/>
          <p:cNvSpPr/>
          <p:nvPr/>
        </p:nvSpPr>
        <p:spPr>
          <a:xfrm>
            <a:off x="4378405" y="4375785"/>
            <a:ext cx="83653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8.0%</a:t>
            </a:r>
            <a:endParaRPr lang="en-US" sz="1875" dirty="0"/>
          </a:p>
        </p:txBody>
      </p:sp>
      <p:sp>
        <p:nvSpPr>
          <p:cNvPr id="54" name="Shape 52"/>
          <p:cNvSpPr/>
          <p:nvPr/>
        </p:nvSpPr>
        <p:spPr>
          <a:xfrm>
            <a:off x="5310188" y="4832985"/>
            <a:ext cx="1322308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5" name="Text 53"/>
          <p:cNvSpPr/>
          <p:nvPr/>
        </p:nvSpPr>
        <p:spPr>
          <a:xfrm>
            <a:off x="5481638" y="4375785"/>
            <a:ext cx="105560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89.0%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6632496" y="4832985"/>
            <a:ext cx="110323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7" name="Text 55"/>
          <p:cNvSpPr/>
          <p:nvPr/>
        </p:nvSpPr>
        <p:spPr>
          <a:xfrm>
            <a:off x="6803946" y="4375785"/>
            <a:ext cx="83653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7735729" y="4832985"/>
            <a:ext cx="1103471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9" name="Text 57"/>
          <p:cNvSpPr/>
          <p:nvPr/>
        </p:nvSpPr>
        <p:spPr>
          <a:xfrm>
            <a:off x="7907179" y="4375785"/>
            <a:ext cx="8367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9.0%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952500" y="5111115"/>
            <a:ext cx="7886700" cy="1341120"/>
          </a:xfrm>
          <a:prstGeom prst="roundRect">
            <a:avLst>
              <a:gd name="adj" fmla="val 5682"/>
            </a:avLst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1" name="Text 59"/>
          <p:cNvSpPr/>
          <p:nvPr/>
        </p:nvSpPr>
        <p:spPr>
          <a:xfrm>
            <a:off x="1143000" y="5263515"/>
            <a:ext cx="7742301" cy="1074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</a:t>
            </a:r>
            <a:r>
              <a:rPr lang="en-US" sz="1800" dirty="0">
                <a:solidFill>
                  <a:srgbClr val="6B6358"/>
                </a:solidFill>
                <a:highlight>
                  <a:srgbClr val="F3F1ED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Fused row is a projected forecast for a larger multi-session dataset — not measured output. Camera and microphone rows are measured from repository artifacts.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9448800" y="3757255"/>
            <a:ext cx="7886700" cy="4660225"/>
          </a:xfrm>
          <a:prstGeom prst="roundRect">
            <a:avLst>
              <a:gd name="adj" fmla="val 1635"/>
            </a:avLst>
          </a:prstGeom>
          <a:ln/>
          <a:effectLst>
            <a:outerShdw blurRad="190500" dist="381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pic>
        <p:nvPicPr>
          <p:cNvPr id="6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48800" y="2649855"/>
            <a:ext cx="7886700" cy="46602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52500" y="952500"/>
            <a:ext cx="1687449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C89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432560"/>
            <a:ext cx="16874490" cy="6734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435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2372678"/>
            <a:ext cx="1143000" cy="38100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1295400" y="2810828"/>
            <a:ext cx="7780401" cy="13544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Camera-based noise fingerprinting achieves </a:t>
            </a:r>
            <a:r>
              <a:rPr lang="en-US" sz="2250" b="1" dirty="0">
                <a:solidFill>
                  <a:srgbClr val="E8C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0.858 ROC-AUC </a:t>
            </a:r>
            <a:r>
              <a:rPr lang="en-US" sz="225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only 6.2% false acceptance rate — the stronger modality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4317683"/>
            <a:ext cx="7780401" cy="13392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Multi-modal fusion of camera and microphone signals is projected to reach </a:t>
            </a:r>
            <a:r>
              <a:rPr lang="en-US" sz="2250" b="1" dirty="0">
                <a:solidFill>
                  <a:srgbClr val="E8C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 ROC-AUC </a:t>
            </a:r>
            <a:r>
              <a:rPr lang="en-US" sz="225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proper calibration and a larger dataset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95400" y="5809298"/>
            <a:ext cx="7780401" cy="910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Nonce-bound HKDF challenge flow effectively blocks </a:t>
            </a:r>
            <a:r>
              <a:rPr lang="en-US" sz="2250" b="1" dirty="0">
                <a:solidFill>
                  <a:srgbClr val="E8C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and naive synthetic attacks </a:t>
            </a:r>
            <a:r>
              <a:rPr lang="en-US" sz="225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(0% ASR measured)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95400" y="6872288"/>
            <a:ext cx="7780401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bands (strong accept / uncertain / reject) provide a practical decision framework for real deployments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738550" y="2536983"/>
            <a:ext cx="7886700" cy="4160520"/>
          </a:xfrm>
          <a:prstGeom prst="roundRect">
            <a:avLst>
              <a:gd name="adj" fmla="val 2747"/>
            </a:avLst>
          </a:prstGeom>
          <a:solidFill>
            <a:srgbClr val="FFFFFF">
              <a:alpha val="6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0081450" y="2879883"/>
            <a:ext cx="7416927" cy="38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E8C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Hardening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894760" y="3382803"/>
            <a:ext cx="7463790" cy="300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Nonce-bound HKDF challenge-response flow prevents replay attacks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 never used directly as credentials — derived via HKDF with server secret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 re-enrollment with EMA updates handles sensor drift over time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738550" y="6888003"/>
            <a:ext cx="7886700" cy="161734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4" name="Shape 12"/>
          <p:cNvSpPr/>
          <p:nvPr/>
        </p:nvSpPr>
        <p:spPr>
          <a:xfrm>
            <a:off x="9738550" y="6888003"/>
            <a:ext cx="38100" cy="1617345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0043350" y="7116603"/>
            <a:ext cx="7534656" cy="11982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is a viable prototype for sensor-based device verification — not a replacement for cryptographic credentials, but a complementary signal.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7F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52500" y="952500"/>
            <a:ext cx="1687449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C89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ENHANCEMENT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432560"/>
            <a:ext cx="16874490" cy="607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for Further Development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52500" y="2306955"/>
            <a:ext cx="1143000" cy="38100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>
            <a:off x="952500" y="2726055"/>
            <a:ext cx="8001000" cy="1788795"/>
          </a:xfrm>
          <a:prstGeom prst="roundRect">
            <a:avLst>
              <a:gd name="adj" fmla="val 6390"/>
            </a:avLst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Shape 5"/>
          <p:cNvSpPr/>
          <p:nvPr/>
        </p:nvSpPr>
        <p:spPr>
          <a:xfrm>
            <a:off x="1257300" y="3030855"/>
            <a:ext cx="457200" cy="457200"/>
          </a:xfrm>
          <a:prstGeom prst="ellipse">
            <a:avLst/>
          </a:prstGeom>
          <a:solidFill>
            <a:srgbClr val="2E6DB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" name="Text 6"/>
          <p:cNvSpPr/>
          <p:nvPr/>
        </p:nvSpPr>
        <p:spPr>
          <a:xfrm>
            <a:off x="1219200" y="3030855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43100" y="3030855"/>
            <a:ext cx="6906768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Multi-Session Dataset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943100" y="3491865"/>
            <a:ext cx="6906768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25+ devices across 2–3 sessions per device for statistically robust cross-session evaluation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52500" y="4781550"/>
            <a:ext cx="8001000" cy="1788795"/>
          </a:xfrm>
          <a:prstGeom prst="roundRect">
            <a:avLst>
              <a:gd name="adj" fmla="val 6390"/>
            </a:avLst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" name="Shape 10"/>
          <p:cNvSpPr/>
          <p:nvPr/>
        </p:nvSpPr>
        <p:spPr>
          <a:xfrm>
            <a:off x="1257300" y="5086350"/>
            <a:ext cx="457200" cy="457200"/>
          </a:xfrm>
          <a:prstGeom prst="ellipse">
            <a:avLst/>
          </a:prstGeom>
          <a:solidFill>
            <a:srgbClr val="2E6DB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219200" y="5086350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943100" y="5086350"/>
            <a:ext cx="6906768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Liveness and Anti-Spoofing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943100" y="5547360"/>
            <a:ext cx="6906768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challenge mechanisms to defend against adaptive or learned mimicry attacks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52500" y="6837045"/>
            <a:ext cx="8001000" cy="1788795"/>
          </a:xfrm>
          <a:prstGeom prst="roundRect">
            <a:avLst>
              <a:gd name="adj" fmla="val 6390"/>
            </a:avLst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" name="Shape 15"/>
          <p:cNvSpPr/>
          <p:nvPr/>
        </p:nvSpPr>
        <p:spPr>
          <a:xfrm>
            <a:off x="1257300" y="7141845"/>
            <a:ext cx="457200" cy="457200"/>
          </a:xfrm>
          <a:prstGeom prst="ellipse">
            <a:avLst/>
          </a:prstGeom>
          <a:solidFill>
            <a:srgbClr val="2E6DB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8" name="Text 16"/>
          <p:cNvSpPr/>
          <p:nvPr/>
        </p:nvSpPr>
        <p:spPr>
          <a:xfrm>
            <a:off x="1219200" y="7141845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43100" y="7141845"/>
            <a:ext cx="6906768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Environment-Adaptive Thresholds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943100" y="7602855"/>
            <a:ext cx="6906768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 thresholds per deployment environment to account for noise variance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334500" y="2726055"/>
            <a:ext cx="8001000" cy="1788795"/>
          </a:xfrm>
          <a:prstGeom prst="roundRect">
            <a:avLst>
              <a:gd name="adj" fmla="val 6390"/>
            </a:avLst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2" name="Shape 20"/>
          <p:cNvSpPr/>
          <p:nvPr/>
        </p:nvSpPr>
        <p:spPr>
          <a:xfrm>
            <a:off x="9639300" y="3030855"/>
            <a:ext cx="457200" cy="457200"/>
          </a:xfrm>
          <a:prstGeom prst="ellipse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3" name="Text 21"/>
          <p:cNvSpPr/>
          <p:nvPr/>
        </p:nvSpPr>
        <p:spPr>
          <a:xfrm>
            <a:off x="9601200" y="3030855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25100" y="3030855"/>
            <a:ext cx="6906768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Longitudinal Drift Study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325100" y="3491865"/>
            <a:ext cx="6906768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Multi-week data collection to measure sensor drift and validate EMA re-enrollment policy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9334500" y="4781550"/>
            <a:ext cx="8001000" cy="1788795"/>
          </a:xfrm>
          <a:prstGeom prst="roundRect">
            <a:avLst>
              <a:gd name="adj" fmla="val 6390"/>
            </a:avLst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7" name="Shape 25"/>
          <p:cNvSpPr/>
          <p:nvPr/>
        </p:nvSpPr>
        <p:spPr>
          <a:xfrm>
            <a:off x="9639300" y="5086350"/>
            <a:ext cx="457200" cy="457200"/>
          </a:xfrm>
          <a:prstGeom prst="ellipse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8" name="Text 26"/>
          <p:cNvSpPr/>
          <p:nvPr/>
        </p:nvSpPr>
        <p:spPr>
          <a:xfrm>
            <a:off x="9601200" y="5086350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325100" y="5086350"/>
            <a:ext cx="6906768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Hardening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0325100" y="5547360"/>
            <a:ext cx="6906768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 integration, encrypted template storage, and formal security review for deployment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334500" y="6837045"/>
            <a:ext cx="8001000" cy="1788795"/>
          </a:xfrm>
          <a:prstGeom prst="roundRect">
            <a:avLst>
              <a:gd name="adj" fmla="val 6390"/>
            </a:avLst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2" name="Shape 30"/>
          <p:cNvSpPr/>
          <p:nvPr/>
        </p:nvSpPr>
        <p:spPr>
          <a:xfrm>
            <a:off x="9639300" y="7141845"/>
            <a:ext cx="457200" cy="457200"/>
          </a:xfrm>
          <a:prstGeom prst="ellipse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3" name="Text 31"/>
          <p:cNvSpPr/>
          <p:nvPr/>
        </p:nvSpPr>
        <p:spPr>
          <a:xfrm>
            <a:off x="9601200" y="7141845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0325100" y="7141845"/>
            <a:ext cx="6906768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Modalities</a:t>
            </a:r>
            <a:endParaRPr lang="en-US" sz="2250" dirty="0"/>
          </a:p>
        </p:txBody>
      </p:sp>
      <p:sp>
        <p:nvSpPr>
          <p:cNvPr id="35" name="Text 33"/>
          <p:cNvSpPr/>
          <p:nvPr/>
        </p:nvSpPr>
        <p:spPr>
          <a:xfrm>
            <a:off x="10325100" y="7602855"/>
            <a:ext cx="6906768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accelerometer and gyroscope noise as supplementary fingerprint sources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7F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52500" y="952500"/>
            <a:ext cx="1687449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C89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432560"/>
            <a:ext cx="16874490" cy="607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with Existing Work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52500" y="2306955"/>
            <a:ext cx="1143000" cy="38100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>
            <a:off x="952500" y="2649855"/>
            <a:ext cx="5958840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23950" y="2783205"/>
            <a:ext cx="5794706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911340" y="2649855"/>
            <a:ext cx="2140863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7082790" y="2783205"/>
            <a:ext cx="1874163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Modality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052203" y="2649855"/>
            <a:ext cx="1559719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9223653" y="2783205"/>
            <a:ext cx="1293019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611922" y="2649855"/>
            <a:ext cx="1292662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0783372" y="2783205"/>
            <a:ext cx="1025962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EER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904584" y="2649855"/>
            <a:ext cx="1539359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2076034" y="2783205"/>
            <a:ext cx="1272659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443942" y="2649855"/>
            <a:ext cx="1254562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" name="Text 15"/>
          <p:cNvSpPr/>
          <p:nvPr/>
        </p:nvSpPr>
        <p:spPr>
          <a:xfrm>
            <a:off x="13615392" y="2783205"/>
            <a:ext cx="987862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4698504" y="2649855"/>
            <a:ext cx="2636996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" name="Text 17"/>
          <p:cNvSpPr/>
          <p:nvPr/>
        </p:nvSpPr>
        <p:spPr>
          <a:xfrm>
            <a:off x="14869954" y="2783205"/>
            <a:ext cx="2373206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Protection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2500" y="3743325"/>
            <a:ext cx="5958840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1" name="Text 19"/>
          <p:cNvSpPr/>
          <p:nvPr/>
        </p:nvSpPr>
        <p:spPr>
          <a:xfrm>
            <a:off x="1123950" y="3358515"/>
            <a:ext cx="5794706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Lukas et al. (2006) — PRNU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6911340" y="3743325"/>
            <a:ext cx="214086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3" name="Text 21"/>
          <p:cNvSpPr/>
          <p:nvPr/>
        </p:nvSpPr>
        <p:spPr>
          <a:xfrm>
            <a:off x="7082790" y="3358515"/>
            <a:ext cx="1874163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9052203" y="3743325"/>
            <a:ext cx="155971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5" name="Text 23"/>
          <p:cNvSpPr/>
          <p:nvPr/>
        </p:nvSpPr>
        <p:spPr>
          <a:xfrm>
            <a:off x="9223653" y="3358515"/>
            <a:ext cx="1293019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~0.95+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10611922" y="3743325"/>
            <a:ext cx="12926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7" name="Text 25"/>
          <p:cNvSpPr/>
          <p:nvPr/>
        </p:nvSpPr>
        <p:spPr>
          <a:xfrm>
            <a:off x="10783372" y="3358515"/>
            <a:ext cx="1025962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~4%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11904584" y="3743325"/>
            <a:ext cx="153935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9" name="Text 27"/>
          <p:cNvSpPr/>
          <p:nvPr/>
        </p:nvSpPr>
        <p:spPr>
          <a:xfrm>
            <a:off x="12076034" y="3358515"/>
            <a:ext cx="1272659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~96%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13443942" y="3743325"/>
            <a:ext cx="12545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1" name="Text 29"/>
          <p:cNvSpPr/>
          <p:nvPr/>
        </p:nvSpPr>
        <p:spPr>
          <a:xfrm>
            <a:off x="13615392" y="3358515"/>
            <a:ext cx="987862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4698504" y="3743325"/>
            <a:ext cx="2636996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3" name="Text 31"/>
          <p:cNvSpPr/>
          <p:nvPr/>
        </p:nvSpPr>
        <p:spPr>
          <a:xfrm>
            <a:off x="14869954" y="3358515"/>
            <a:ext cx="2373206" cy="308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1875" dirty="0"/>
          </a:p>
        </p:txBody>
      </p:sp>
      <p:sp>
        <p:nvSpPr>
          <p:cNvPr id="34" name="Shape 32"/>
          <p:cNvSpPr/>
          <p:nvPr/>
        </p:nvSpPr>
        <p:spPr>
          <a:xfrm>
            <a:off x="952500" y="3750945"/>
            <a:ext cx="5958840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5" name="Shape 33"/>
          <p:cNvSpPr/>
          <p:nvPr/>
        </p:nvSpPr>
        <p:spPr>
          <a:xfrm>
            <a:off x="952500" y="4253865"/>
            <a:ext cx="5958840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6" name="Text 34"/>
          <p:cNvSpPr/>
          <p:nvPr/>
        </p:nvSpPr>
        <p:spPr>
          <a:xfrm>
            <a:off x="1123950" y="3865245"/>
            <a:ext cx="579470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Goljan et al. (2009) — Large-scale PRNU</a:t>
            </a:r>
            <a:endParaRPr lang="en-US" sz="1875" dirty="0"/>
          </a:p>
        </p:txBody>
      </p:sp>
      <p:sp>
        <p:nvSpPr>
          <p:cNvPr id="37" name="Shape 35"/>
          <p:cNvSpPr/>
          <p:nvPr/>
        </p:nvSpPr>
        <p:spPr>
          <a:xfrm>
            <a:off x="6911340" y="3750945"/>
            <a:ext cx="2140863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8" name="Shape 36"/>
          <p:cNvSpPr/>
          <p:nvPr/>
        </p:nvSpPr>
        <p:spPr>
          <a:xfrm>
            <a:off x="6911340" y="4253865"/>
            <a:ext cx="214086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9" name="Text 37"/>
          <p:cNvSpPr/>
          <p:nvPr/>
        </p:nvSpPr>
        <p:spPr>
          <a:xfrm>
            <a:off x="7082790" y="3865245"/>
            <a:ext cx="187416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9052203" y="3750945"/>
            <a:ext cx="1559719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1" name="Shape 39"/>
          <p:cNvSpPr/>
          <p:nvPr/>
        </p:nvSpPr>
        <p:spPr>
          <a:xfrm>
            <a:off x="9052203" y="4253865"/>
            <a:ext cx="155971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2" name="Text 40"/>
          <p:cNvSpPr/>
          <p:nvPr/>
        </p:nvSpPr>
        <p:spPr>
          <a:xfrm>
            <a:off x="9223653" y="3865245"/>
            <a:ext cx="1293019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~0.97+</a:t>
            </a:r>
            <a:endParaRPr lang="en-US" sz="1875" dirty="0"/>
          </a:p>
        </p:txBody>
      </p:sp>
      <p:sp>
        <p:nvSpPr>
          <p:cNvPr id="43" name="Shape 41"/>
          <p:cNvSpPr/>
          <p:nvPr/>
        </p:nvSpPr>
        <p:spPr>
          <a:xfrm>
            <a:off x="10611922" y="3750945"/>
            <a:ext cx="1292662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4" name="Shape 42"/>
          <p:cNvSpPr/>
          <p:nvPr/>
        </p:nvSpPr>
        <p:spPr>
          <a:xfrm>
            <a:off x="10611922" y="4253865"/>
            <a:ext cx="12926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5" name="Text 43"/>
          <p:cNvSpPr/>
          <p:nvPr/>
        </p:nvSpPr>
        <p:spPr>
          <a:xfrm>
            <a:off x="10783372" y="3865245"/>
            <a:ext cx="1025962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~2.5%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11904584" y="3750945"/>
            <a:ext cx="1539359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7" name="Shape 45"/>
          <p:cNvSpPr/>
          <p:nvPr/>
        </p:nvSpPr>
        <p:spPr>
          <a:xfrm>
            <a:off x="11904584" y="4253865"/>
            <a:ext cx="153935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8" name="Text 46"/>
          <p:cNvSpPr/>
          <p:nvPr/>
        </p:nvSpPr>
        <p:spPr>
          <a:xfrm>
            <a:off x="12076034" y="3865245"/>
            <a:ext cx="1272659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~97%</a:t>
            </a:r>
            <a:endParaRPr lang="en-US" sz="1875" dirty="0"/>
          </a:p>
        </p:txBody>
      </p:sp>
      <p:sp>
        <p:nvSpPr>
          <p:cNvPr id="49" name="Shape 47"/>
          <p:cNvSpPr/>
          <p:nvPr/>
        </p:nvSpPr>
        <p:spPr>
          <a:xfrm>
            <a:off x="13443942" y="3750945"/>
            <a:ext cx="1254562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0" name="Shape 48"/>
          <p:cNvSpPr/>
          <p:nvPr/>
        </p:nvSpPr>
        <p:spPr>
          <a:xfrm>
            <a:off x="13443942" y="4253865"/>
            <a:ext cx="12545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1" name="Text 49"/>
          <p:cNvSpPr/>
          <p:nvPr/>
        </p:nvSpPr>
        <p:spPr>
          <a:xfrm>
            <a:off x="13615392" y="3865245"/>
            <a:ext cx="987862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14698504" y="3750945"/>
            <a:ext cx="2636996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3" name="Shape 51"/>
          <p:cNvSpPr/>
          <p:nvPr/>
        </p:nvSpPr>
        <p:spPr>
          <a:xfrm>
            <a:off x="14698504" y="4253865"/>
            <a:ext cx="2636996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4" name="Text 52"/>
          <p:cNvSpPr/>
          <p:nvPr/>
        </p:nvSpPr>
        <p:spPr>
          <a:xfrm>
            <a:off x="14869954" y="3865245"/>
            <a:ext cx="237320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1875" dirty="0"/>
          </a:p>
        </p:txBody>
      </p:sp>
      <p:sp>
        <p:nvSpPr>
          <p:cNvPr id="55" name="Shape 53"/>
          <p:cNvSpPr/>
          <p:nvPr/>
        </p:nvSpPr>
        <p:spPr>
          <a:xfrm>
            <a:off x="952500" y="4764405"/>
            <a:ext cx="5958840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6" name="Text 54"/>
          <p:cNvSpPr/>
          <p:nvPr/>
        </p:nvSpPr>
        <p:spPr>
          <a:xfrm>
            <a:off x="1123950" y="4375785"/>
            <a:ext cx="579470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 et al. (2008) — ML-PRNU</a:t>
            </a:r>
            <a:endParaRPr lang="en-US" sz="1875" dirty="0"/>
          </a:p>
        </p:txBody>
      </p:sp>
      <p:sp>
        <p:nvSpPr>
          <p:cNvPr id="57" name="Shape 55"/>
          <p:cNvSpPr/>
          <p:nvPr/>
        </p:nvSpPr>
        <p:spPr>
          <a:xfrm>
            <a:off x="6911340" y="4764405"/>
            <a:ext cx="214086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8" name="Text 56"/>
          <p:cNvSpPr/>
          <p:nvPr/>
        </p:nvSpPr>
        <p:spPr>
          <a:xfrm>
            <a:off x="7082790" y="4375785"/>
            <a:ext cx="187416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875" dirty="0"/>
          </a:p>
        </p:txBody>
      </p:sp>
      <p:sp>
        <p:nvSpPr>
          <p:cNvPr id="59" name="Shape 57"/>
          <p:cNvSpPr/>
          <p:nvPr/>
        </p:nvSpPr>
        <p:spPr>
          <a:xfrm>
            <a:off x="9052203" y="4764405"/>
            <a:ext cx="155971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0" name="Text 58"/>
          <p:cNvSpPr/>
          <p:nvPr/>
        </p:nvSpPr>
        <p:spPr>
          <a:xfrm>
            <a:off x="9223653" y="4375785"/>
            <a:ext cx="1293019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~0.96+</a:t>
            </a:r>
            <a:endParaRPr lang="en-US" sz="1875" dirty="0"/>
          </a:p>
        </p:txBody>
      </p:sp>
      <p:sp>
        <p:nvSpPr>
          <p:cNvPr id="61" name="Shape 59"/>
          <p:cNvSpPr/>
          <p:nvPr/>
        </p:nvSpPr>
        <p:spPr>
          <a:xfrm>
            <a:off x="10611922" y="4764405"/>
            <a:ext cx="12926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2" name="Text 60"/>
          <p:cNvSpPr/>
          <p:nvPr/>
        </p:nvSpPr>
        <p:spPr>
          <a:xfrm>
            <a:off x="10783372" y="4375785"/>
            <a:ext cx="1025962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~2%</a:t>
            </a:r>
            <a:endParaRPr lang="en-US" sz="1875" dirty="0"/>
          </a:p>
        </p:txBody>
      </p:sp>
      <p:sp>
        <p:nvSpPr>
          <p:cNvPr id="63" name="Shape 61"/>
          <p:cNvSpPr/>
          <p:nvPr/>
        </p:nvSpPr>
        <p:spPr>
          <a:xfrm>
            <a:off x="11904584" y="4764405"/>
            <a:ext cx="153935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4" name="Text 62"/>
          <p:cNvSpPr/>
          <p:nvPr/>
        </p:nvSpPr>
        <p:spPr>
          <a:xfrm>
            <a:off x="12076034" y="4375785"/>
            <a:ext cx="1272659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~97%</a:t>
            </a:r>
            <a:endParaRPr lang="en-US" sz="1875" dirty="0"/>
          </a:p>
        </p:txBody>
      </p:sp>
      <p:sp>
        <p:nvSpPr>
          <p:cNvPr id="65" name="Shape 63"/>
          <p:cNvSpPr/>
          <p:nvPr/>
        </p:nvSpPr>
        <p:spPr>
          <a:xfrm>
            <a:off x="13443942" y="4764405"/>
            <a:ext cx="12545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6" name="Text 64"/>
          <p:cNvSpPr/>
          <p:nvPr/>
        </p:nvSpPr>
        <p:spPr>
          <a:xfrm>
            <a:off x="13615392" y="4375785"/>
            <a:ext cx="987862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1875" dirty="0"/>
          </a:p>
        </p:txBody>
      </p:sp>
      <p:sp>
        <p:nvSpPr>
          <p:cNvPr id="67" name="Shape 65"/>
          <p:cNvSpPr/>
          <p:nvPr/>
        </p:nvSpPr>
        <p:spPr>
          <a:xfrm>
            <a:off x="14698504" y="4764405"/>
            <a:ext cx="2636996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8" name="Text 66"/>
          <p:cNvSpPr/>
          <p:nvPr/>
        </p:nvSpPr>
        <p:spPr>
          <a:xfrm>
            <a:off x="14869954" y="4375785"/>
            <a:ext cx="237320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1875" dirty="0"/>
          </a:p>
        </p:txBody>
      </p:sp>
      <p:sp>
        <p:nvSpPr>
          <p:cNvPr id="69" name="Shape 67"/>
          <p:cNvSpPr/>
          <p:nvPr/>
        </p:nvSpPr>
        <p:spPr>
          <a:xfrm>
            <a:off x="952500" y="4772025"/>
            <a:ext cx="5958840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0" name="Shape 68"/>
          <p:cNvSpPr/>
          <p:nvPr/>
        </p:nvSpPr>
        <p:spPr>
          <a:xfrm>
            <a:off x="952500" y="5274945"/>
            <a:ext cx="5958840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1" name="Text 69"/>
          <p:cNvSpPr/>
          <p:nvPr/>
        </p:nvSpPr>
        <p:spPr>
          <a:xfrm>
            <a:off x="1123950" y="4886325"/>
            <a:ext cx="579470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et al. (2014) — Acoustic fingerprint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6911340" y="4772025"/>
            <a:ext cx="2140863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3" name="Shape 71"/>
          <p:cNvSpPr/>
          <p:nvPr/>
        </p:nvSpPr>
        <p:spPr>
          <a:xfrm>
            <a:off x="6911340" y="5274945"/>
            <a:ext cx="214086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4" name="Text 72"/>
          <p:cNvSpPr/>
          <p:nvPr/>
        </p:nvSpPr>
        <p:spPr>
          <a:xfrm>
            <a:off x="7082790" y="4886325"/>
            <a:ext cx="187416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1875" dirty="0"/>
          </a:p>
        </p:txBody>
      </p:sp>
      <p:sp>
        <p:nvSpPr>
          <p:cNvPr id="75" name="Shape 73"/>
          <p:cNvSpPr/>
          <p:nvPr/>
        </p:nvSpPr>
        <p:spPr>
          <a:xfrm>
            <a:off x="9052203" y="4772025"/>
            <a:ext cx="1559719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6" name="Shape 74"/>
          <p:cNvSpPr/>
          <p:nvPr/>
        </p:nvSpPr>
        <p:spPr>
          <a:xfrm>
            <a:off x="9052203" y="5274945"/>
            <a:ext cx="155971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7" name="Text 75"/>
          <p:cNvSpPr/>
          <p:nvPr/>
        </p:nvSpPr>
        <p:spPr>
          <a:xfrm>
            <a:off x="9223653" y="4886325"/>
            <a:ext cx="1293019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~0.82</a:t>
            </a:r>
            <a:endParaRPr lang="en-US" sz="1875" dirty="0"/>
          </a:p>
        </p:txBody>
      </p:sp>
      <p:sp>
        <p:nvSpPr>
          <p:cNvPr id="78" name="Shape 76"/>
          <p:cNvSpPr/>
          <p:nvPr/>
        </p:nvSpPr>
        <p:spPr>
          <a:xfrm>
            <a:off x="10611922" y="4772025"/>
            <a:ext cx="1292662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9" name="Shape 77"/>
          <p:cNvSpPr/>
          <p:nvPr/>
        </p:nvSpPr>
        <p:spPr>
          <a:xfrm>
            <a:off x="10611922" y="5274945"/>
            <a:ext cx="12926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0" name="Text 78"/>
          <p:cNvSpPr/>
          <p:nvPr/>
        </p:nvSpPr>
        <p:spPr>
          <a:xfrm>
            <a:off x="10783372" y="4886325"/>
            <a:ext cx="1025962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~9%</a:t>
            </a:r>
            <a:endParaRPr lang="en-US" sz="1875" dirty="0"/>
          </a:p>
        </p:txBody>
      </p:sp>
      <p:sp>
        <p:nvSpPr>
          <p:cNvPr id="81" name="Shape 79"/>
          <p:cNvSpPr/>
          <p:nvPr/>
        </p:nvSpPr>
        <p:spPr>
          <a:xfrm>
            <a:off x="11904584" y="4772025"/>
            <a:ext cx="1539359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2" name="Shape 80"/>
          <p:cNvSpPr/>
          <p:nvPr/>
        </p:nvSpPr>
        <p:spPr>
          <a:xfrm>
            <a:off x="11904584" y="5274945"/>
            <a:ext cx="153935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3" name="Text 81"/>
          <p:cNvSpPr/>
          <p:nvPr/>
        </p:nvSpPr>
        <p:spPr>
          <a:xfrm>
            <a:off x="12076034" y="4886325"/>
            <a:ext cx="1272659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~85%</a:t>
            </a:r>
            <a:endParaRPr lang="en-US" sz="1875" dirty="0"/>
          </a:p>
        </p:txBody>
      </p:sp>
      <p:sp>
        <p:nvSpPr>
          <p:cNvPr id="84" name="Shape 82"/>
          <p:cNvSpPr/>
          <p:nvPr/>
        </p:nvSpPr>
        <p:spPr>
          <a:xfrm>
            <a:off x="13443942" y="4772025"/>
            <a:ext cx="1254562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5" name="Shape 83"/>
          <p:cNvSpPr/>
          <p:nvPr/>
        </p:nvSpPr>
        <p:spPr>
          <a:xfrm>
            <a:off x="13443942" y="5274945"/>
            <a:ext cx="12545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6" name="Text 84"/>
          <p:cNvSpPr/>
          <p:nvPr/>
        </p:nvSpPr>
        <p:spPr>
          <a:xfrm>
            <a:off x="13615392" y="4886325"/>
            <a:ext cx="987862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1875" dirty="0"/>
          </a:p>
        </p:txBody>
      </p:sp>
      <p:sp>
        <p:nvSpPr>
          <p:cNvPr id="87" name="Shape 85"/>
          <p:cNvSpPr/>
          <p:nvPr/>
        </p:nvSpPr>
        <p:spPr>
          <a:xfrm>
            <a:off x="14698504" y="4772025"/>
            <a:ext cx="2636996" cy="51054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8" name="Shape 86"/>
          <p:cNvSpPr/>
          <p:nvPr/>
        </p:nvSpPr>
        <p:spPr>
          <a:xfrm>
            <a:off x="14698504" y="5274945"/>
            <a:ext cx="2636996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9" name="Text 87"/>
          <p:cNvSpPr/>
          <p:nvPr/>
        </p:nvSpPr>
        <p:spPr>
          <a:xfrm>
            <a:off x="14869954" y="4886325"/>
            <a:ext cx="237320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1875" dirty="0"/>
          </a:p>
        </p:txBody>
      </p:sp>
      <p:sp>
        <p:nvSpPr>
          <p:cNvPr id="90" name="Shape 88"/>
          <p:cNvSpPr/>
          <p:nvPr/>
        </p:nvSpPr>
        <p:spPr>
          <a:xfrm>
            <a:off x="952500" y="5854065"/>
            <a:ext cx="5958840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1" name="Text 89"/>
          <p:cNvSpPr/>
          <p:nvPr/>
        </p:nvSpPr>
        <p:spPr>
          <a:xfrm>
            <a:off x="1123950" y="5396865"/>
            <a:ext cx="579470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QNA-Auth — Camera only</a:t>
            </a:r>
            <a:endParaRPr lang="en-US" sz="1875" dirty="0"/>
          </a:p>
        </p:txBody>
      </p:sp>
      <p:sp>
        <p:nvSpPr>
          <p:cNvPr id="92" name="Shape 90"/>
          <p:cNvSpPr/>
          <p:nvPr/>
        </p:nvSpPr>
        <p:spPr>
          <a:xfrm>
            <a:off x="6911340" y="5854065"/>
            <a:ext cx="214086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3" name="Text 91"/>
          <p:cNvSpPr/>
          <p:nvPr/>
        </p:nvSpPr>
        <p:spPr>
          <a:xfrm>
            <a:off x="7082790" y="5396865"/>
            <a:ext cx="187416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875" dirty="0"/>
          </a:p>
        </p:txBody>
      </p:sp>
      <p:sp>
        <p:nvSpPr>
          <p:cNvPr id="94" name="Shape 92"/>
          <p:cNvSpPr/>
          <p:nvPr/>
        </p:nvSpPr>
        <p:spPr>
          <a:xfrm>
            <a:off x="9052203" y="5854065"/>
            <a:ext cx="155971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5" name="Text 93"/>
          <p:cNvSpPr/>
          <p:nvPr/>
        </p:nvSpPr>
        <p:spPr>
          <a:xfrm>
            <a:off x="9223653" y="5396865"/>
            <a:ext cx="129301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0.858</a:t>
            </a:r>
            <a:endParaRPr lang="en-US" sz="1875" dirty="0"/>
          </a:p>
        </p:txBody>
      </p:sp>
      <p:sp>
        <p:nvSpPr>
          <p:cNvPr id="96" name="Shape 94"/>
          <p:cNvSpPr/>
          <p:nvPr/>
        </p:nvSpPr>
        <p:spPr>
          <a:xfrm>
            <a:off x="10611922" y="5854065"/>
            <a:ext cx="12926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7" name="Text 95"/>
          <p:cNvSpPr/>
          <p:nvPr/>
        </p:nvSpPr>
        <p:spPr>
          <a:xfrm>
            <a:off x="10783372" y="5396865"/>
            <a:ext cx="102596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26.8%</a:t>
            </a:r>
            <a:endParaRPr lang="en-US" sz="1875" dirty="0"/>
          </a:p>
        </p:txBody>
      </p:sp>
      <p:sp>
        <p:nvSpPr>
          <p:cNvPr id="98" name="Shape 96"/>
          <p:cNvSpPr/>
          <p:nvPr/>
        </p:nvSpPr>
        <p:spPr>
          <a:xfrm>
            <a:off x="11904584" y="5854065"/>
            <a:ext cx="153935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9" name="Text 97"/>
          <p:cNvSpPr/>
          <p:nvPr/>
        </p:nvSpPr>
        <p:spPr>
          <a:xfrm>
            <a:off x="12076034" y="5396865"/>
            <a:ext cx="127265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78.9%</a:t>
            </a:r>
            <a:endParaRPr lang="en-US" sz="1875" dirty="0"/>
          </a:p>
        </p:txBody>
      </p:sp>
      <p:sp>
        <p:nvSpPr>
          <p:cNvPr id="100" name="Shape 98"/>
          <p:cNvSpPr/>
          <p:nvPr/>
        </p:nvSpPr>
        <p:spPr>
          <a:xfrm>
            <a:off x="13443942" y="5854065"/>
            <a:ext cx="12545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1" name="Text 99"/>
          <p:cNvSpPr/>
          <p:nvPr/>
        </p:nvSpPr>
        <p:spPr>
          <a:xfrm>
            <a:off x="13615392" y="5396865"/>
            <a:ext cx="98786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875" dirty="0"/>
          </a:p>
        </p:txBody>
      </p:sp>
      <p:sp>
        <p:nvSpPr>
          <p:cNvPr id="102" name="Shape 100"/>
          <p:cNvSpPr/>
          <p:nvPr/>
        </p:nvSpPr>
        <p:spPr>
          <a:xfrm>
            <a:off x="14698504" y="5854065"/>
            <a:ext cx="2636996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3" name="Text 101"/>
          <p:cNvSpPr/>
          <p:nvPr/>
        </p:nvSpPr>
        <p:spPr>
          <a:xfrm>
            <a:off x="14869954" y="5396865"/>
            <a:ext cx="237320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HKDF nonce</a:t>
            </a:r>
            <a:endParaRPr lang="en-US" sz="1875" dirty="0"/>
          </a:p>
        </p:txBody>
      </p:sp>
      <p:sp>
        <p:nvSpPr>
          <p:cNvPr id="104" name="Shape 102"/>
          <p:cNvSpPr/>
          <p:nvPr/>
        </p:nvSpPr>
        <p:spPr>
          <a:xfrm>
            <a:off x="952500" y="5861685"/>
            <a:ext cx="5958840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5" name="Shape 103"/>
          <p:cNvSpPr/>
          <p:nvPr/>
        </p:nvSpPr>
        <p:spPr>
          <a:xfrm>
            <a:off x="952500" y="6433185"/>
            <a:ext cx="5958840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6" name="Text 104"/>
          <p:cNvSpPr/>
          <p:nvPr/>
        </p:nvSpPr>
        <p:spPr>
          <a:xfrm>
            <a:off x="1123950" y="5975985"/>
            <a:ext cx="579470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QNA-Auth — Mic only</a:t>
            </a:r>
            <a:endParaRPr lang="en-US" sz="1875" dirty="0"/>
          </a:p>
        </p:txBody>
      </p:sp>
      <p:sp>
        <p:nvSpPr>
          <p:cNvPr id="107" name="Shape 105"/>
          <p:cNvSpPr/>
          <p:nvPr/>
        </p:nvSpPr>
        <p:spPr>
          <a:xfrm>
            <a:off x="6911340" y="5861685"/>
            <a:ext cx="2140863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8" name="Shape 106"/>
          <p:cNvSpPr/>
          <p:nvPr/>
        </p:nvSpPr>
        <p:spPr>
          <a:xfrm>
            <a:off x="6911340" y="6433185"/>
            <a:ext cx="214086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9" name="Text 107"/>
          <p:cNvSpPr/>
          <p:nvPr/>
        </p:nvSpPr>
        <p:spPr>
          <a:xfrm>
            <a:off x="7082790" y="5975985"/>
            <a:ext cx="187416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1875" dirty="0"/>
          </a:p>
        </p:txBody>
      </p:sp>
      <p:sp>
        <p:nvSpPr>
          <p:cNvPr id="110" name="Shape 108"/>
          <p:cNvSpPr/>
          <p:nvPr/>
        </p:nvSpPr>
        <p:spPr>
          <a:xfrm>
            <a:off x="9052203" y="5861685"/>
            <a:ext cx="1559719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1" name="Shape 109"/>
          <p:cNvSpPr/>
          <p:nvPr/>
        </p:nvSpPr>
        <p:spPr>
          <a:xfrm>
            <a:off x="9052203" y="6433185"/>
            <a:ext cx="155971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2" name="Text 110"/>
          <p:cNvSpPr/>
          <p:nvPr/>
        </p:nvSpPr>
        <p:spPr>
          <a:xfrm>
            <a:off x="9223653" y="5975985"/>
            <a:ext cx="129301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0.710</a:t>
            </a:r>
            <a:endParaRPr lang="en-US" sz="1875" dirty="0"/>
          </a:p>
        </p:txBody>
      </p:sp>
      <p:sp>
        <p:nvSpPr>
          <p:cNvPr id="113" name="Shape 111"/>
          <p:cNvSpPr/>
          <p:nvPr/>
        </p:nvSpPr>
        <p:spPr>
          <a:xfrm>
            <a:off x="10611922" y="5861685"/>
            <a:ext cx="1292662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4" name="Shape 112"/>
          <p:cNvSpPr/>
          <p:nvPr/>
        </p:nvSpPr>
        <p:spPr>
          <a:xfrm>
            <a:off x="10611922" y="6433185"/>
            <a:ext cx="12926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5" name="Text 113"/>
          <p:cNvSpPr/>
          <p:nvPr/>
        </p:nvSpPr>
        <p:spPr>
          <a:xfrm>
            <a:off x="10783372" y="5975985"/>
            <a:ext cx="102596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36.4%</a:t>
            </a:r>
            <a:endParaRPr lang="en-US" sz="1875" dirty="0"/>
          </a:p>
        </p:txBody>
      </p:sp>
      <p:sp>
        <p:nvSpPr>
          <p:cNvPr id="116" name="Shape 114"/>
          <p:cNvSpPr/>
          <p:nvPr/>
        </p:nvSpPr>
        <p:spPr>
          <a:xfrm>
            <a:off x="11904584" y="5861685"/>
            <a:ext cx="1539359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7" name="Shape 115"/>
          <p:cNvSpPr/>
          <p:nvPr/>
        </p:nvSpPr>
        <p:spPr>
          <a:xfrm>
            <a:off x="11904584" y="6433185"/>
            <a:ext cx="153935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8" name="Text 116"/>
          <p:cNvSpPr/>
          <p:nvPr/>
        </p:nvSpPr>
        <p:spPr>
          <a:xfrm>
            <a:off x="12076034" y="5975985"/>
            <a:ext cx="127265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64.6%</a:t>
            </a:r>
            <a:endParaRPr lang="en-US" sz="1875" dirty="0"/>
          </a:p>
        </p:txBody>
      </p:sp>
      <p:sp>
        <p:nvSpPr>
          <p:cNvPr id="119" name="Shape 117"/>
          <p:cNvSpPr/>
          <p:nvPr/>
        </p:nvSpPr>
        <p:spPr>
          <a:xfrm>
            <a:off x="13443942" y="5861685"/>
            <a:ext cx="1254562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0" name="Shape 118"/>
          <p:cNvSpPr/>
          <p:nvPr/>
        </p:nvSpPr>
        <p:spPr>
          <a:xfrm>
            <a:off x="13443942" y="6433185"/>
            <a:ext cx="12545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1" name="Text 119"/>
          <p:cNvSpPr/>
          <p:nvPr/>
        </p:nvSpPr>
        <p:spPr>
          <a:xfrm>
            <a:off x="13615392" y="5975985"/>
            <a:ext cx="98786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875" dirty="0"/>
          </a:p>
        </p:txBody>
      </p:sp>
      <p:sp>
        <p:nvSpPr>
          <p:cNvPr id="122" name="Shape 120"/>
          <p:cNvSpPr/>
          <p:nvPr/>
        </p:nvSpPr>
        <p:spPr>
          <a:xfrm>
            <a:off x="14698504" y="5861685"/>
            <a:ext cx="2636996" cy="579120"/>
          </a:xfrm>
          <a:prstGeom prst="rect">
            <a:avLst/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3" name="Shape 121"/>
          <p:cNvSpPr/>
          <p:nvPr/>
        </p:nvSpPr>
        <p:spPr>
          <a:xfrm>
            <a:off x="14698504" y="6433185"/>
            <a:ext cx="2636996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4" name="Text 122"/>
          <p:cNvSpPr/>
          <p:nvPr/>
        </p:nvSpPr>
        <p:spPr>
          <a:xfrm>
            <a:off x="14869954" y="5975985"/>
            <a:ext cx="237320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HKDF nonce</a:t>
            </a:r>
            <a:endParaRPr lang="en-US" sz="1875" dirty="0"/>
          </a:p>
        </p:txBody>
      </p:sp>
      <p:sp>
        <p:nvSpPr>
          <p:cNvPr id="125" name="Shape 123"/>
          <p:cNvSpPr/>
          <p:nvPr/>
        </p:nvSpPr>
        <p:spPr>
          <a:xfrm>
            <a:off x="952500" y="7012305"/>
            <a:ext cx="5958840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6" name="Text 124"/>
          <p:cNvSpPr/>
          <p:nvPr/>
        </p:nvSpPr>
        <p:spPr>
          <a:xfrm>
            <a:off x="1123950" y="6555105"/>
            <a:ext cx="579470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QNA-Auth — Fused (target)</a:t>
            </a:r>
            <a:endParaRPr lang="en-US" sz="1875" dirty="0"/>
          </a:p>
        </p:txBody>
      </p:sp>
      <p:sp>
        <p:nvSpPr>
          <p:cNvPr id="127" name="Shape 125"/>
          <p:cNvSpPr/>
          <p:nvPr/>
        </p:nvSpPr>
        <p:spPr>
          <a:xfrm>
            <a:off x="6911340" y="7012305"/>
            <a:ext cx="2140863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8" name="Text 126"/>
          <p:cNvSpPr/>
          <p:nvPr/>
        </p:nvSpPr>
        <p:spPr>
          <a:xfrm>
            <a:off x="7082790" y="6555105"/>
            <a:ext cx="187416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+ Mic</a:t>
            </a:r>
            <a:endParaRPr lang="en-US" sz="1875" dirty="0"/>
          </a:p>
        </p:txBody>
      </p:sp>
      <p:sp>
        <p:nvSpPr>
          <p:cNvPr id="129" name="Shape 127"/>
          <p:cNvSpPr/>
          <p:nvPr/>
        </p:nvSpPr>
        <p:spPr>
          <a:xfrm>
            <a:off x="9052203" y="7012305"/>
            <a:ext cx="155971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0" name="Text 128"/>
          <p:cNvSpPr/>
          <p:nvPr/>
        </p:nvSpPr>
        <p:spPr>
          <a:xfrm>
            <a:off x="9223653" y="6555105"/>
            <a:ext cx="129301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0.930</a:t>
            </a:r>
            <a:endParaRPr lang="en-US" sz="1875" dirty="0"/>
          </a:p>
        </p:txBody>
      </p:sp>
      <p:sp>
        <p:nvSpPr>
          <p:cNvPr id="131" name="Shape 129"/>
          <p:cNvSpPr/>
          <p:nvPr/>
        </p:nvSpPr>
        <p:spPr>
          <a:xfrm>
            <a:off x="10611922" y="7012305"/>
            <a:ext cx="12926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2" name="Text 130"/>
          <p:cNvSpPr/>
          <p:nvPr/>
        </p:nvSpPr>
        <p:spPr>
          <a:xfrm>
            <a:off x="10783372" y="6555105"/>
            <a:ext cx="102596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8.0%</a:t>
            </a:r>
            <a:endParaRPr lang="en-US" sz="1875" dirty="0"/>
          </a:p>
        </p:txBody>
      </p:sp>
      <p:sp>
        <p:nvSpPr>
          <p:cNvPr id="133" name="Shape 131"/>
          <p:cNvSpPr/>
          <p:nvPr/>
        </p:nvSpPr>
        <p:spPr>
          <a:xfrm>
            <a:off x="11904584" y="7012305"/>
            <a:ext cx="1539359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4" name="Text 132"/>
          <p:cNvSpPr/>
          <p:nvPr/>
        </p:nvSpPr>
        <p:spPr>
          <a:xfrm>
            <a:off x="12076034" y="6555105"/>
            <a:ext cx="127265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89.0%</a:t>
            </a:r>
            <a:endParaRPr lang="en-US" sz="1875" dirty="0"/>
          </a:p>
        </p:txBody>
      </p:sp>
      <p:sp>
        <p:nvSpPr>
          <p:cNvPr id="135" name="Shape 133"/>
          <p:cNvSpPr/>
          <p:nvPr/>
        </p:nvSpPr>
        <p:spPr>
          <a:xfrm>
            <a:off x="13443942" y="7012305"/>
            <a:ext cx="1254562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6" name="Text 134"/>
          <p:cNvSpPr/>
          <p:nvPr/>
        </p:nvSpPr>
        <p:spPr>
          <a:xfrm>
            <a:off x="13615392" y="6555105"/>
            <a:ext cx="98786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875" dirty="0"/>
          </a:p>
        </p:txBody>
      </p:sp>
      <p:sp>
        <p:nvSpPr>
          <p:cNvPr id="137" name="Shape 135"/>
          <p:cNvSpPr/>
          <p:nvPr/>
        </p:nvSpPr>
        <p:spPr>
          <a:xfrm>
            <a:off x="14698504" y="7012305"/>
            <a:ext cx="2636996" cy="9525"/>
          </a:xfrm>
          <a:prstGeom prst="rect">
            <a:avLst/>
          </a:prstGeom>
          <a:solidFill>
            <a:srgbClr val="EDE9E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8" name="Text 136"/>
          <p:cNvSpPr/>
          <p:nvPr/>
        </p:nvSpPr>
        <p:spPr>
          <a:xfrm>
            <a:off x="14869954" y="6555105"/>
            <a:ext cx="237320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HKDF nonce</a:t>
            </a:r>
            <a:endParaRPr lang="en-US" sz="1875" dirty="0"/>
          </a:p>
        </p:txBody>
      </p:sp>
      <p:sp>
        <p:nvSpPr>
          <p:cNvPr id="139" name="Shape 137"/>
          <p:cNvSpPr/>
          <p:nvPr/>
        </p:nvSpPr>
        <p:spPr>
          <a:xfrm>
            <a:off x="952500" y="7252335"/>
            <a:ext cx="16383000" cy="952500"/>
          </a:xfrm>
          <a:prstGeom prst="roundRect">
            <a:avLst>
              <a:gd name="adj" fmla="val 8000"/>
            </a:avLst>
          </a:prstGeom>
          <a:solidFill>
            <a:srgbClr val="F3F1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40" name="Text 138"/>
          <p:cNvSpPr/>
          <p:nvPr/>
        </p:nvSpPr>
        <p:spPr>
          <a:xfrm>
            <a:off x="1143000" y="7385685"/>
            <a:ext cx="1649349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methods use offline multi-image settings with dozens of images per device. QNA-Auth operates on short live samples with built-in replay protection — a fundamentally harder constraint.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52500" y="952500"/>
            <a:ext cx="1687449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C89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432560"/>
            <a:ext cx="16874490" cy="607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900" b="1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Bibliography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52500" y="2306955"/>
            <a:ext cx="1143000" cy="38100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1219200" y="3184208"/>
            <a:ext cx="16607790" cy="891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Lukas, J., Fridrich, J., &amp; Goljan, M. (2006). Digital camera identification from sensor pattern noise. </a:t>
            </a:r>
            <a:r>
              <a:rPr lang="en-US" sz="2100" i="1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IEEE Transactions on Information Forensics and Security </a:t>
            </a: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1(2), 205–214.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19200" y="4151947"/>
            <a:ext cx="16607790" cy="891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Goljan, M., Fridrich, J., &amp; Filler, T. (2009). Large scale test of sensor fingerprint camera identification. </a:t>
            </a:r>
            <a:r>
              <a:rPr lang="en-US" sz="2100" i="1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Proc. SPIE Media Forensics and Security </a:t>
            </a: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7254.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9200" y="5119688"/>
            <a:ext cx="16607790" cy="891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Chen, M., Fridrich, J., Goljan, M., &amp; Lukáš, J. (2008). Determining image origin and integrity using sensor noise. </a:t>
            </a:r>
            <a:r>
              <a:rPr lang="en-US" sz="2100" i="1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IEEE Transactions on Information Forensics and Security </a:t>
            </a: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3(1), 74–90.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19200" y="6087428"/>
            <a:ext cx="16607790" cy="891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Das, A., Borisov, N., &amp; Caesar, M. (2014). Do you hear what I hear? Fingerprinting smart devices through embedded acoustic components. </a:t>
            </a:r>
            <a:r>
              <a:rPr lang="en-US" sz="2100" i="1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CCS</a:t>
            </a: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441–452.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19200" y="7055168"/>
            <a:ext cx="16607790" cy="891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Bromley, J., Guyon, I., LeCun, Y., Säckinger, E., &amp; Shah, R. (1993). Signature verification using a Siamese time delay neural network. </a:t>
            </a:r>
            <a:r>
              <a:rPr lang="en-US" sz="2100" i="1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NIPS</a:t>
            </a: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19200" y="8022907"/>
            <a:ext cx="16607790" cy="4648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Schroff, F., Kalenichenko, D., &amp; Philbin, J. (2015). FaceNet: A unified embedding for face recognition and clustering. </a:t>
            </a:r>
            <a:r>
              <a:rPr lang="en-US" sz="2100" i="1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CVPR</a:t>
            </a: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815–823.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9200" y="8563928"/>
            <a:ext cx="16607790" cy="4648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Krawczyk, H. (2010). Cryptographic extraction and key derivation: The HKDF scheme. </a:t>
            </a:r>
            <a:r>
              <a:rPr lang="en-US" sz="2100" i="1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</a:t>
            </a:r>
            <a:r>
              <a:rPr lang="en-US" sz="2100" dirty="0">
                <a:solidFill>
                  <a:srgbClr val="EDE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LNCS 6223, 631–648.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1097</Words>
  <Application>Microsoft Office PowerPoint</Application>
  <PresentationFormat>Custom</PresentationFormat>
  <Paragraphs>201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Ayan Kumar Singh</cp:lastModifiedBy>
  <cp:revision>8</cp:revision>
  <dcterms:created xsi:type="dcterms:W3CDTF">2026-04-28T16:44:22Z</dcterms:created>
  <dcterms:modified xsi:type="dcterms:W3CDTF">2026-04-28T16:59:26Z</dcterms:modified>
</cp:coreProperties>
</file>